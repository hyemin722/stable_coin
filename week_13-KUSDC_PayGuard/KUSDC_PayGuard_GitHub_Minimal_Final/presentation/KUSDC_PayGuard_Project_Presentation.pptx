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맑은 고딕" panose="020B0503020000020004" pitchFamily="50" charset="-127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oto Sans KR" panose="020B0200000000000000" pitchFamily="50" charset="-127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23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1.png"/><Relationship Id="rId21" Type="http://schemas.openxmlformats.org/officeDocument/2006/relationships/image" Target="../media/image45.png"/><Relationship Id="rId34" Type="http://schemas.openxmlformats.org/officeDocument/2006/relationships/image" Target="../media/image5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33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32" Type="http://schemas.openxmlformats.org/officeDocument/2006/relationships/image" Target="../media/image56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31" Type="http://schemas.openxmlformats.org/officeDocument/2006/relationships/image" Target="../media/image55.png"/><Relationship Id="rId4" Type="http://schemas.openxmlformats.org/officeDocument/2006/relationships/image" Target="../media/image6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Relationship Id="rId35" Type="http://schemas.openxmlformats.org/officeDocument/2006/relationships/image" Target="../media/image59.png"/><Relationship Id="rId8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1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6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3" Type="http://schemas.openxmlformats.org/officeDocument/2006/relationships/image" Target="../media/image1.png"/><Relationship Id="rId21" Type="http://schemas.openxmlformats.org/officeDocument/2006/relationships/image" Target="../media/image94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19" Type="http://schemas.openxmlformats.org/officeDocument/2006/relationships/image" Target="../media/image92.png"/><Relationship Id="rId4" Type="http://schemas.openxmlformats.org/officeDocument/2006/relationships/image" Target="../media/image6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26" Type="http://schemas.openxmlformats.org/officeDocument/2006/relationships/image" Target="../media/image116.png"/><Relationship Id="rId3" Type="http://schemas.openxmlformats.org/officeDocument/2006/relationships/image" Target="../media/image1.png"/><Relationship Id="rId21" Type="http://schemas.openxmlformats.org/officeDocument/2006/relationships/image" Target="../media/image111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5" Type="http://schemas.openxmlformats.org/officeDocument/2006/relationships/image" Target="../media/image11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24" Type="http://schemas.openxmlformats.org/officeDocument/2006/relationships/image" Target="../media/image114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23" Type="http://schemas.openxmlformats.org/officeDocument/2006/relationships/image" Target="../media/image113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6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Relationship Id="rId27" Type="http://schemas.openxmlformats.org/officeDocument/2006/relationships/image" Target="../media/image1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26" Type="http://schemas.openxmlformats.org/officeDocument/2006/relationships/image" Target="../media/image139.png"/><Relationship Id="rId3" Type="http://schemas.openxmlformats.org/officeDocument/2006/relationships/image" Target="../media/image118.png"/><Relationship Id="rId21" Type="http://schemas.openxmlformats.org/officeDocument/2006/relationships/image" Target="../media/image134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5" Type="http://schemas.openxmlformats.org/officeDocument/2006/relationships/image" Target="../media/image13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37.png"/><Relationship Id="rId5" Type="http://schemas.openxmlformats.org/officeDocument/2006/relationships/image" Target="../media/image6.png"/><Relationship Id="rId15" Type="http://schemas.openxmlformats.org/officeDocument/2006/relationships/image" Target="../media/image128.png"/><Relationship Id="rId23" Type="http://schemas.openxmlformats.org/officeDocument/2006/relationships/image" Target="../media/image136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5.png"/><Relationship Id="rId27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18" Type="http://schemas.openxmlformats.org/officeDocument/2006/relationships/image" Target="../media/image154.png"/><Relationship Id="rId26" Type="http://schemas.openxmlformats.org/officeDocument/2006/relationships/image" Target="../media/image162.png"/><Relationship Id="rId3" Type="http://schemas.openxmlformats.org/officeDocument/2006/relationships/image" Target="../media/image1.png"/><Relationship Id="rId21" Type="http://schemas.openxmlformats.org/officeDocument/2006/relationships/image" Target="../media/image157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17" Type="http://schemas.openxmlformats.org/officeDocument/2006/relationships/image" Target="../media/image153.png"/><Relationship Id="rId25" Type="http://schemas.openxmlformats.org/officeDocument/2006/relationships/image" Target="../media/image16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2.png"/><Relationship Id="rId20" Type="http://schemas.openxmlformats.org/officeDocument/2006/relationships/image" Target="../media/image156.png"/><Relationship Id="rId29" Type="http://schemas.openxmlformats.org/officeDocument/2006/relationships/image" Target="../media/image1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24" Type="http://schemas.openxmlformats.org/officeDocument/2006/relationships/image" Target="../media/image160.png"/><Relationship Id="rId5" Type="http://schemas.openxmlformats.org/officeDocument/2006/relationships/image" Target="../media/image141.png"/><Relationship Id="rId15" Type="http://schemas.openxmlformats.org/officeDocument/2006/relationships/image" Target="../media/image151.png"/><Relationship Id="rId23" Type="http://schemas.openxmlformats.org/officeDocument/2006/relationships/image" Target="../media/image159.png"/><Relationship Id="rId28" Type="http://schemas.openxmlformats.org/officeDocument/2006/relationships/image" Target="../media/image164.png"/><Relationship Id="rId10" Type="http://schemas.openxmlformats.org/officeDocument/2006/relationships/image" Target="../media/image146.png"/><Relationship Id="rId19" Type="http://schemas.openxmlformats.org/officeDocument/2006/relationships/image" Target="../media/image155.png"/><Relationship Id="rId4" Type="http://schemas.openxmlformats.org/officeDocument/2006/relationships/image" Target="../media/image6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Relationship Id="rId22" Type="http://schemas.openxmlformats.org/officeDocument/2006/relationships/image" Target="../media/image158.png"/><Relationship Id="rId27" Type="http://schemas.openxmlformats.org/officeDocument/2006/relationships/image" Target="../media/image163.png"/><Relationship Id="rId30" Type="http://schemas.openxmlformats.org/officeDocument/2006/relationships/image" Target="../media/image1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297561"/>
            <a:ext cx="952500" cy="314325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726186"/>
            <a:ext cx="952500" cy="314325"/>
          </a:xfrm>
          <a:prstGeom prst="rect">
            <a:avLst/>
          </a:prstGeom>
        </p:spPr>
      </p:pic>
      <p:pic>
        <p:nvPicPr>
          <p:cNvPr id="7" name="SK-1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612011"/>
            <a:ext cx="10668000" cy="257175"/>
          </a:xfrm>
          <a:prstGeom prst="rect">
            <a:avLst/>
          </a:prstGeom>
        </p:spPr>
      </p:pic>
      <p:sp>
        <p:nvSpPr>
          <p:cNvPr id="8" name="SK-1-text-7"/>
          <p:cNvSpPr/>
          <p:nvPr/>
        </p:nvSpPr>
        <p:spPr>
          <a:xfrm>
            <a:off x="762000" y="988814"/>
            <a:ext cx="106680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kern="0" spc="120" dirty="0">
                <a:solidFill>
                  <a:srgbClr val="00B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BLOCKCHAIN TERM PROJECT 2026</a:t>
            </a:r>
            <a:endParaRPr lang="en-US" sz="1350" dirty="0"/>
          </a:p>
        </p:txBody>
      </p:sp>
      <p:sp>
        <p:nvSpPr>
          <p:cNvPr id="9" name="SK-1-text-8"/>
          <p:cNvSpPr/>
          <p:nvPr/>
        </p:nvSpPr>
        <p:spPr>
          <a:xfrm>
            <a:off x="762000" y="1436489"/>
            <a:ext cx="10668000" cy="15085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94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AI-Assisted</a:t>
            </a:r>
            <a:endParaRPr lang="en-US" sz="5400" dirty="0"/>
          </a:p>
          <a:p>
            <a:pPr marL="0" indent="0">
              <a:lnSpc>
                <a:spcPts val="594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KUSDC PayGuard</a:t>
            </a:r>
            <a:endParaRPr lang="en-US" sz="5400" dirty="0"/>
          </a:p>
        </p:txBody>
      </p:sp>
      <p:sp>
        <p:nvSpPr>
          <p:cNvPr id="10" name="SK-1-text-9"/>
          <p:cNvSpPr/>
          <p:nvPr/>
        </p:nvSpPr>
        <p:spPr>
          <a:xfrm>
            <a:off x="762000" y="3135511"/>
            <a:ext cx="10668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dirty="0">
                <a:solidFill>
                  <a:srgbClr val="F8FAFC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스테이블코인 결제 검증·정산·리스크 요약 Agent</a:t>
            </a:r>
            <a:endParaRPr lang="en-US" sz="2100" dirty="0"/>
          </a:p>
        </p:txBody>
      </p:sp>
      <p:sp>
        <p:nvSpPr>
          <p:cNvPr id="11" name="SK-1-text-10"/>
          <p:cNvSpPr/>
          <p:nvPr/>
        </p:nvSpPr>
        <p:spPr>
          <a:xfrm>
            <a:off x="762000" y="4297561"/>
            <a:ext cx="6477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</a:t>
            </a:r>
            <a:endParaRPr lang="en-US" sz="1050" dirty="0"/>
          </a:p>
        </p:txBody>
      </p:sp>
      <p:sp>
        <p:nvSpPr>
          <p:cNvPr id="12" name="SK-1-text-11"/>
          <p:cNvSpPr/>
          <p:nvPr/>
        </p:nvSpPr>
        <p:spPr>
          <a:xfrm>
            <a:off x="1905000" y="4311848"/>
            <a:ext cx="35052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2026.05.19</a:t>
            </a:r>
            <a:endParaRPr lang="en-US" sz="1500" dirty="0"/>
          </a:p>
        </p:txBody>
      </p:sp>
      <p:sp>
        <p:nvSpPr>
          <p:cNvPr id="13" name="SK-1-text-12"/>
          <p:cNvSpPr/>
          <p:nvPr/>
        </p:nvSpPr>
        <p:spPr>
          <a:xfrm>
            <a:off x="762000" y="4726186"/>
            <a:ext cx="6477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예정</a:t>
            </a:r>
            <a:endParaRPr lang="en-US" sz="1050" dirty="0"/>
          </a:p>
        </p:txBody>
      </p:sp>
      <p:sp>
        <p:nvSpPr>
          <p:cNvPr id="14" name="SK-1-text-13"/>
          <p:cNvSpPr/>
          <p:nvPr/>
        </p:nvSpPr>
        <p:spPr>
          <a:xfrm>
            <a:off x="1905000" y="4740473"/>
            <a:ext cx="35052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2026.05.26</a:t>
            </a:r>
            <a:endParaRPr lang="en-US" sz="1500" dirty="0"/>
          </a:p>
        </p:txBody>
      </p:sp>
      <p:sp>
        <p:nvSpPr>
          <p:cNvPr id="15" name="SK-1-text-14"/>
          <p:cNvSpPr/>
          <p:nvPr/>
        </p:nvSpPr>
        <p:spPr>
          <a:xfrm>
            <a:off x="952500" y="5612011"/>
            <a:ext cx="104775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00B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"결제만 하는 DApp에서 결제를 이해하는 DApp으로"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"/>
            <a:ext cx="57150" cy="304800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24000"/>
            <a:ext cx="5381625" cy="3752850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905000"/>
            <a:ext cx="476250" cy="476250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2028825"/>
            <a:ext cx="285750" cy="228600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2724150"/>
            <a:ext cx="76200" cy="76200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463230"/>
            <a:ext cx="76200" cy="76200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24000"/>
            <a:ext cx="5381625" cy="3752850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9875" y="1905000"/>
            <a:ext cx="476250" cy="476250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5125" y="2028825"/>
            <a:ext cx="285750" cy="228600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9875" y="2724150"/>
            <a:ext cx="76200" cy="76200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9875" y="3463230"/>
            <a:ext cx="76200" cy="76200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9875" y="4202311"/>
            <a:ext cx="76200" cy="76200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657850"/>
            <a:ext cx="11049000" cy="819150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33725" y="5968752"/>
            <a:ext cx="285750" cy="228600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43963" y="5996285"/>
            <a:ext cx="214313" cy="175320"/>
          </a:xfrm>
          <a:prstGeom prst="rect">
            <a:avLst/>
          </a:prstGeom>
        </p:spPr>
      </p:pic>
      <p:sp>
        <p:nvSpPr>
          <p:cNvPr id="19" name="SK-2-text-18"/>
          <p:cNvSpPr/>
          <p:nvPr/>
        </p:nvSpPr>
        <p:spPr>
          <a:xfrm>
            <a:off x="771525" y="381000"/>
            <a:ext cx="4389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프로젝트를 선택한 이유</a:t>
            </a:r>
            <a:endParaRPr lang="en-US" sz="2400" dirty="0"/>
          </a:p>
        </p:txBody>
      </p:sp>
      <p:sp>
        <p:nvSpPr>
          <p:cNvPr id="20" name="SK-2-text-19"/>
          <p:cNvSpPr/>
          <p:nvPr/>
        </p:nvSpPr>
        <p:spPr>
          <a:xfrm>
            <a:off x="771525" y="914400"/>
            <a:ext cx="108489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kern="0" spc="60" dirty="0">
                <a:solidFill>
                  <a:srgbClr val="00B8D9"/>
                </a:solidFill>
              </a:rPr>
              <a:t>AI-ASSISTED KUSDC PAYGUARD PROJECT</a:t>
            </a:r>
            <a:endParaRPr lang="en-US" sz="1200" dirty="0"/>
          </a:p>
        </p:txBody>
      </p:sp>
      <p:sp>
        <p:nvSpPr>
          <p:cNvPr id="21" name="SK-2-text-20"/>
          <p:cNvSpPr/>
          <p:nvPr/>
        </p:nvSpPr>
        <p:spPr>
          <a:xfrm>
            <a:off x="1571625" y="1985963"/>
            <a:ext cx="528066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E293B"/>
                </a:solidFill>
              </a:rPr>
              <a:t>기존 학습·구현 내용 (Foundation)</a:t>
            </a:r>
            <a:endParaRPr lang="en-US" sz="1650" dirty="0"/>
          </a:p>
        </p:txBody>
      </p:sp>
      <p:sp>
        <p:nvSpPr>
          <p:cNvPr id="22" name="SK-2-text-21"/>
          <p:cNvSpPr/>
          <p:nvPr/>
        </p:nvSpPr>
        <p:spPr>
          <a:xfrm>
            <a:off x="1143000" y="2667000"/>
            <a:ext cx="4429125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KUSDC ERC-20 토큰 배포: 스마트 컨트랙트 구조와 기본 로직 이해</a:t>
            </a:r>
            <a:endParaRPr lang="en-US" sz="1350" dirty="0"/>
          </a:p>
        </p:txBody>
      </p:sp>
      <p:sp>
        <p:nvSpPr>
          <p:cNvPr id="23" name="SK-2-text-22"/>
          <p:cNvSpPr/>
          <p:nvPr/>
        </p:nvSpPr>
        <p:spPr>
          <a:xfrm>
            <a:off x="1143000" y="3406080"/>
            <a:ext cx="4429125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CafePayment 결제 흐름 구현: 온체인 토큰 전송과 결제 처리 로직 확인</a:t>
            </a:r>
            <a:endParaRPr lang="en-US" sz="1350" dirty="0"/>
          </a:p>
        </p:txBody>
      </p:sp>
      <p:sp>
        <p:nvSpPr>
          <p:cNvPr id="24" name="SK-2-text-23"/>
          <p:cNvSpPr/>
          <p:nvPr/>
        </p:nvSpPr>
        <p:spPr>
          <a:xfrm>
            <a:off x="7239000" y="1985963"/>
            <a:ext cx="452628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E293B"/>
                </a:solidFill>
              </a:rPr>
              <a:t>실제 서비스의 공백 (Needs)</a:t>
            </a:r>
            <a:endParaRPr lang="en-US" sz="1650" dirty="0"/>
          </a:p>
        </p:txBody>
      </p:sp>
      <p:sp>
        <p:nvSpPr>
          <p:cNvPr id="25" name="SK-2-text-24"/>
          <p:cNvSpPr/>
          <p:nvPr/>
        </p:nvSpPr>
        <p:spPr>
          <a:xfrm>
            <a:off x="6810375" y="2667000"/>
            <a:ext cx="4429125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Tx Hash 기반 영수증: 사용자가 결제 성공 여부를 직접 확인하기 어려움</a:t>
            </a:r>
            <a:endParaRPr lang="en-US" sz="1350" dirty="0"/>
          </a:p>
        </p:txBody>
      </p:sp>
      <p:sp>
        <p:nvSpPr>
          <p:cNvPr id="26" name="SK-2-text-25"/>
          <p:cNvSpPr/>
          <p:nvPr/>
        </p:nvSpPr>
        <p:spPr>
          <a:xfrm>
            <a:off x="6810375" y="3406080"/>
            <a:ext cx="4429125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관리자 정산 및 리스크: 매출·수수료·실패 거래를 한 화면에서 관리할 필요</a:t>
            </a:r>
            <a:endParaRPr lang="en-US" sz="1350" dirty="0"/>
          </a:p>
        </p:txBody>
      </p:sp>
      <p:sp>
        <p:nvSpPr>
          <p:cNvPr id="27" name="SK-2-text-26"/>
          <p:cNvSpPr/>
          <p:nvPr/>
        </p:nvSpPr>
        <p:spPr>
          <a:xfrm>
            <a:off x="6810375" y="4145161"/>
            <a:ext cx="4429125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AI 온체인 요약</a:t>
            </a:r>
            <a:r>
              <a:rPr lang="en-US" sz="1350" dirty="0">
                <a:solidFill>
                  <a:srgbClr val="475569"/>
                </a:solidFill>
              </a:rPr>
              <a:t>: 복잡한 트랜잭션 데이터를 일반 사용자가 이해하기 쉬운 언어로 변환</a:t>
            </a:r>
            <a:endParaRPr lang="en-US" sz="1350" dirty="0"/>
          </a:p>
        </p:txBody>
      </p:sp>
      <p:sp>
        <p:nvSpPr>
          <p:cNvPr id="28" name="SK-2-text-27"/>
          <p:cNvSpPr/>
          <p:nvPr/>
        </p:nvSpPr>
        <p:spPr>
          <a:xfrm>
            <a:off x="3609975" y="5924550"/>
            <a:ext cx="85820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kern="0" spc="-30" dirty="0">
                <a:solidFill>
                  <a:srgbClr val="FFFFFF"/>
                </a:solidFill>
              </a:rPr>
              <a:t>단순 결제 DApp에서 결제를 검증하고 이해하는 서비스로 확장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"/>
            <a:ext cx="57150" cy="304800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58379"/>
            <a:ext cx="5381625" cy="2251621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1891754"/>
            <a:ext cx="571500" cy="571500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938" y="2044154"/>
            <a:ext cx="333375" cy="26670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58379"/>
            <a:ext cx="5381625" cy="2251621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1891754"/>
            <a:ext cx="571500" cy="571500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1313" y="2044154"/>
            <a:ext cx="333375" cy="266700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095750"/>
            <a:ext cx="5381625" cy="2251621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4429125"/>
            <a:ext cx="571500" cy="571500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938" y="4581525"/>
            <a:ext cx="333375" cy="266700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8875" y="4095750"/>
            <a:ext cx="5381625" cy="2251621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0" y="4429125"/>
            <a:ext cx="571500" cy="571500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6538" y="4500563"/>
            <a:ext cx="542925" cy="428625"/>
          </a:xfrm>
          <a:prstGeom prst="rect">
            <a:avLst/>
          </a:prstGeom>
        </p:spPr>
      </p:pic>
      <p:sp>
        <p:nvSpPr>
          <p:cNvPr id="17" name="SK-3-text-16"/>
          <p:cNvSpPr/>
          <p:nvPr/>
        </p:nvSpPr>
        <p:spPr>
          <a:xfrm>
            <a:off x="771525" y="381000"/>
            <a:ext cx="25603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프로젝트 주제</a:t>
            </a:r>
            <a:endParaRPr lang="en-US" sz="2400" dirty="0"/>
          </a:p>
        </p:txBody>
      </p:sp>
      <p:sp>
        <p:nvSpPr>
          <p:cNvPr id="18" name="SK-3-text-17"/>
          <p:cNvSpPr/>
          <p:nvPr/>
        </p:nvSpPr>
        <p:spPr>
          <a:xfrm>
            <a:off x="771525" y="914400"/>
            <a:ext cx="108489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kern="0" spc="60" dirty="0">
                <a:solidFill>
                  <a:srgbClr val="00B8D9"/>
                </a:solidFill>
              </a:rPr>
              <a:t>AI-ASSISTED KUSDC PAYGUARD PROJECT</a:t>
            </a:r>
            <a:endParaRPr lang="en-US" sz="1200" dirty="0"/>
          </a:p>
        </p:txBody>
      </p:sp>
      <p:sp>
        <p:nvSpPr>
          <p:cNvPr id="19" name="SK-3-text-18"/>
          <p:cNvSpPr/>
          <p:nvPr/>
        </p:nvSpPr>
        <p:spPr>
          <a:xfrm>
            <a:off x="1666875" y="2020342"/>
            <a:ext cx="276606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E293B"/>
                </a:solidFill>
              </a:rPr>
              <a:t>KUSDC 카페 결제</a:t>
            </a:r>
            <a:endParaRPr lang="en-US" sz="1650" dirty="0"/>
          </a:p>
        </p:txBody>
      </p:sp>
      <p:sp>
        <p:nvSpPr>
          <p:cNvPr id="20" name="SK-3-text-19"/>
          <p:cNvSpPr/>
          <p:nvPr/>
        </p:nvSpPr>
        <p:spPr>
          <a:xfrm>
            <a:off x="904875" y="2653754"/>
            <a:ext cx="4714875" cy="822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사용자가 카페 메뉴를 선택하고 KUSDC로 결제하는 화면을 구현합니다.</a:t>
            </a:r>
            <a:endParaRPr lang="en-US" sz="1350" dirty="0"/>
          </a:p>
        </p:txBody>
      </p:sp>
      <p:sp>
        <p:nvSpPr>
          <p:cNvPr id="21" name="SK-3-text-20"/>
          <p:cNvSpPr/>
          <p:nvPr/>
        </p:nvSpPr>
        <p:spPr>
          <a:xfrm>
            <a:off x="7334250" y="2020342"/>
            <a:ext cx="25146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E293B"/>
                </a:solidFill>
              </a:rPr>
              <a:t>블록체인 기록 검증</a:t>
            </a:r>
            <a:endParaRPr lang="en-US" sz="1650" dirty="0"/>
          </a:p>
        </p:txBody>
      </p:sp>
      <p:sp>
        <p:nvSpPr>
          <p:cNvPr id="22" name="SK-3-text-21"/>
          <p:cNvSpPr/>
          <p:nvPr/>
        </p:nvSpPr>
        <p:spPr>
          <a:xfrm>
            <a:off x="6572250" y="2653754"/>
            <a:ext cx="4714875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결제 후 확인되는 Tx Hash를 기준으로 Nodit API에서 온체인 트랜잭션의 성공 여부와 세부 데이터를 검증합니다.</a:t>
            </a:r>
            <a:endParaRPr lang="en-US" sz="1350" dirty="0"/>
          </a:p>
        </p:txBody>
      </p:sp>
      <p:sp>
        <p:nvSpPr>
          <p:cNvPr id="23" name="SK-3-text-22"/>
          <p:cNvSpPr/>
          <p:nvPr/>
        </p:nvSpPr>
        <p:spPr>
          <a:xfrm>
            <a:off x="1666875" y="4557713"/>
            <a:ext cx="226314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E293B"/>
                </a:solidFill>
              </a:rPr>
              <a:t>관리자 정산 관리</a:t>
            </a:r>
            <a:endParaRPr lang="en-US" sz="1650" dirty="0"/>
          </a:p>
        </p:txBody>
      </p:sp>
      <p:sp>
        <p:nvSpPr>
          <p:cNvPr id="24" name="SK-3-text-23"/>
          <p:cNvSpPr/>
          <p:nvPr/>
        </p:nvSpPr>
        <p:spPr>
          <a:xfrm>
            <a:off x="904875" y="5191125"/>
            <a:ext cx="4714875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관리자 대시보드에서 매출액, 서비스 수수료, 최종 정산 예정 금액을 자동으로 계산합니다.</a:t>
            </a:r>
            <a:endParaRPr lang="en-US" sz="1350" dirty="0"/>
          </a:p>
        </p:txBody>
      </p:sp>
      <p:sp>
        <p:nvSpPr>
          <p:cNvPr id="25" name="SK-3-text-24"/>
          <p:cNvSpPr/>
          <p:nvPr/>
        </p:nvSpPr>
        <p:spPr>
          <a:xfrm>
            <a:off x="7334250" y="4557713"/>
            <a:ext cx="326898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E293B"/>
                </a:solidFill>
              </a:rPr>
              <a:t>AI 온체인 데이터 요약</a:t>
            </a:r>
            <a:endParaRPr lang="en-US" sz="1650" dirty="0"/>
          </a:p>
        </p:txBody>
      </p:sp>
      <p:sp>
        <p:nvSpPr>
          <p:cNvPr id="26" name="SK-3-text-25"/>
          <p:cNvSpPr/>
          <p:nvPr/>
        </p:nvSpPr>
        <p:spPr>
          <a:xfrm>
            <a:off x="6572250" y="5191125"/>
            <a:ext cx="4714875" cy="822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복잡한 온체인 데이터를 AI Agent가 분석하여 사용자와 관리자가 이해하기 쉬운 요약 문장으로 제공합니다.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"/>
            <a:ext cx="57150" cy="304800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26394"/>
            <a:ext cx="11049000" cy="3671888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26394"/>
            <a:ext cx="11049000" cy="742950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26394"/>
            <a:ext cx="5524500" cy="742950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5038" y="1918841"/>
            <a:ext cx="238125" cy="190500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626394"/>
            <a:ext cx="5524500" cy="74295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7637" y="1918841"/>
            <a:ext cx="238125" cy="190500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369344"/>
            <a:ext cx="5524500" cy="585788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2581275"/>
            <a:ext cx="190500" cy="161925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2369344"/>
            <a:ext cx="5524500" cy="585788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2581275"/>
            <a:ext cx="190500" cy="161925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24950" y="2564606"/>
            <a:ext cx="400050" cy="195263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955131"/>
            <a:ext cx="11049000" cy="585788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955131"/>
            <a:ext cx="5524500" cy="585788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7250" y="3167063"/>
            <a:ext cx="190500" cy="161925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0" y="2955131"/>
            <a:ext cx="5524500" cy="585788"/>
          </a:xfrm>
          <a:prstGeom prst="rect">
            <a:avLst/>
          </a:prstGeom>
        </p:spPr>
      </p:pic>
      <p:pic>
        <p:nvPicPr>
          <p:cNvPr id="20" name="SK-4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81750" y="3167063"/>
            <a:ext cx="190500" cy="161925"/>
          </a:xfrm>
          <a:prstGeom prst="rect">
            <a:avLst/>
          </a:prstGeom>
        </p:spPr>
      </p:pic>
      <p:pic>
        <p:nvPicPr>
          <p:cNvPr id="21" name="SK-4-img-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48725" y="3150394"/>
            <a:ext cx="400050" cy="195263"/>
          </a:xfrm>
          <a:prstGeom prst="rect">
            <a:avLst/>
          </a:prstGeom>
        </p:spPr>
      </p:pic>
      <p:pic>
        <p:nvPicPr>
          <p:cNvPr id="22" name="SK-4-img-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540919"/>
            <a:ext cx="5524500" cy="585788"/>
          </a:xfrm>
          <a:prstGeom prst="rect">
            <a:avLst/>
          </a:prstGeom>
        </p:spPr>
      </p:pic>
      <p:pic>
        <p:nvPicPr>
          <p:cNvPr id="23" name="SK-4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7250" y="3752850"/>
            <a:ext cx="190500" cy="161925"/>
          </a:xfrm>
          <a:prstGeom prst="rect">
            <a:avLst/>
          </a:prstGeom>
        </p:spPr>
      </p:pic>
      <p:pic>
        <p:nvPicPr>
          <p:cNvPr id="24" name="SK-4-img-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3540919"/>
            <a:ext cx="5524500" cy="585788"/>
          </a:xfrm>
          <a:prstGeom prst="rect">
            <a:avLst/>
          </a:prstGeom>
        </p:spPr>
      </p:pic>
      <p:pic>
        <p:nvPicPr>
          <p:cNvPr id="25" name="SK-4-img-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1750" y="3752850"/>
            <a:ext cx="190500" cy="161925"/>
          </a:xfrm>
          <a:prstGeom prst="rect">
            <a:avLst/>
          </a:prstGeom>
        </p:spPr>
      </p:pic>
      <p:pic>
        <p:nvPicPr>
          <p:cNvPr id="26" name="SK-4-img-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0200" y="3736181"/>
            <a:ext cx="400050" cy="195263"/>
          </a:xfrm>
          <a:prstGeom prst="rect">
            <a:avLst/>
          </a:prstGeom>
        </p:spPr>
      </p:pic>
      <p:pic>
        <p:nvPicPr>
          <p:cNvPr id="27" name="SK-4-img-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126706"/>
            <a:ext cx="11049000" cy="585788"/>
          </a:xfrm>
          <a:prstGeom prst="rect">
            <a:avLst/>
          </a:prstGeom>
        </p:spPr>
      </p:pic>
      <p:pic>
        <p:nvPicPr>
          <p:cNvPr id="28" name="SK-4-img-2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126706"/>
            <a:ext cx="5524500" cy="585788"/>
          </a:xfrm>
          <a:prstGeom prst="rect">
            <a:avLst/>
          </a:prstGeom>
        </p:spPr>
      </p:pic>
      <p:pic>
        <p:nvPicPr>
          <p:cNvPr id="29" name="SK-4-img-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7250" y="4338638"/>
            <a:ext cx="190500" cy="161925"/>
          </a:xfrm>
          <a:prstGeom prst="rect">
            <a:avLst/>
          </a:prstGeom>
        </p:spPr>
      </p:pic>
      <p:pic>
        <p:nvPicPr>
          <p:cNvPr id="30" name="SK-4-img-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6000" y="4126706"/>
            <a:ext cx="5524500" cy="585788"/>
          </a:xfrm>
          <a:prstGeom prst="rect">
            <a:avLst/>
          </a:prstGeom>
        </p:spPr>
      </p:pic>
      <p:pic>
        <p:nvPicPr>
          <p:cNvPr id="31" name="SK-4-img-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81750" y="4338638"/>
            <a:ext cx="190500" cy="161925"/>
          </a:xfrm>
          <a:prstGeom prst="rect">
            <a:avLst/>
          </a:prstGeom>
        </p:spPr>
      </p:pic>
      <p:pic>
        <p:nvPicPr>
          <p:cNvPr id="32" name="SK-4-img-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53550" y="4321969"/>
            <a:ext cx="400050" cy="195263"/>
          </a:xfrm>
          <a:prstGeom prst="rect">
            <a:avLst/>
          </a:prstGeom>
        </p:spPr>
      </p:pic>
      <p:pic>
        <p:nvPicPr>
          <p:cNvPr id="33" name="SK-4-img-3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712494"/>
            <a:ext cx="5524500" cy="585788"/>
          </a:xfrm>
          <a:prstGeom prst="rect">
            <a:avLst/>
          </a:prstGeom>
        </p:spPr>
      </p:pic>
      <p:pic>
        <p:nvPicPr>
          <p:cNvPr id="34" name="SK-4-img-33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7250" y="4924425"/>
            <a:ext cx="190500" cy="161925"/>
          </a:xfrm>
          <a:prstGeom prst="rect">
            <a:avLst/>
          </a:prstGeom>
        </p:spPr>
      </p:pic>
      <p:pic>
        <p:nvPicPr>
          <p:cNvPr id="35" name="SK-4-img-3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0" y="4712494"/>
            <a:ext cx="5524500" cy="585788"/>
          </a:xfrm>
          <a:prstGeom prst="rect">
            <a:avLst/>
          </a:prstGeom>
        </p:spPr>
      </p:pic>
      <p:pic>
        <p:nvPicPr>
          <p:cNvPr id="36" name="SK-4-img-35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81750" y="4924425"/>
            <a:ext cx="190500" cy="161925"/>
          </a:xfrm>
          <a:prstGeom prst="rect">
            <a:avLst/>
          </a:prstGeom>
        </p:spPr>
      </p:pic>
      <p:pic>
        <p:nvPicPr>
          <p:cNvPr id="37" name="SK-4-img-3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53500" y="4907756"/>
            <a:ext cx="400050" cy="195263"/>
          </a:xfrm>
          <a:prstGeom prst="rect">
            <a:avLst/>
          </a:prstGeom>
        </p:spPr>
      </p:pic>
      <p:pic>
        <p:nvPicPr>
          <p:cNvPr id="38" name="SK-4-img-37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5631656"/>
            <a:ext cx="5429250" cy="742950"/>
          </a:xfrm>
          <a:prstGeom prst="rect">
            <a:avLst/>
          </a:prstGeom>
        </p:spPr>
      </p:pic>
      <p:pic>
        <p:nvPicPr>
          <p:cNvPr id="39" name="SK-4-img-38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14375" y="5774531"/>
            <a:ext cx="457200" cy="457200"/>
          </a:xfrm>
          <a:prstGeom prst="rect">
            <a:avLst/>
          </a:prstGeom>
        </p:spPr>
      </p:pic>
      <p:pic>
        <p:nvPicPr>
          <p:cNvPr id="40" name="SK-4-img-3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4375" y="5774531"/>
            <a:ext cx="457200" cy="457200"/>
          </a:xfrm>
          <a:prstGeom prst="rect">
            <a:avLst/>
          </a:prstGeom>
        </p:spPr>
      </p:pic>
      <p:pic>
        <p:nvPicPr>
          <p:cNvPr id="41" name="SK-4-img-4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191250" y="5631656"/>
            <a:ext cx="5429250" cy="742950"/>
          </a:xfrm>
          <a:prstGeom prst="rect">
            <a:avLst/>
          </a:prstGeom>
        </p:spPr>
      </p:pic>
      <p:pic>
        <p:nvPicPr>
          <p:cNvPr id="42" name="SK-4-img-4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334125" y="5774531"/>
            <a:ext cx="457200" cy="457200"/>
          </a:xfrm>
          <a:prstGeom prst="rect">
            <a:avLst/>
          </a:prstGeom>
        </p:spPr>
      </p:pic>
      <p:pic>
        <p:nvPicPr>
          <p:cNvPr id="43" name="SK-4-img-4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34125" y="5774531"/>
            <a:ext cx="457200" cy="457200"/>
          </a:xfrm>
          <a:prstGeom prst="rect">
            <a:avLst/>
          </a:prstGeom>
        </p:spPr>
      </p:pic>
      <p:sp>
        <p:nvSpPr>
          <p:cNvPr id="44" name="SK-4-text-43"/>
          <p:cNvSpPr/>
          <p:nvPr/>
        </p:nvSpPr>
        <p:spPr>
          <a:xfrm>
            <a:off x="771525" y="381000"/>
            <a:ext cx="51206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기존 구현 기반 vs 이번 확장</a:t>
            </a:r>
            <a:endParaRPr lang="en-US" sz="2400" dirty="0"/>
          </a:p>
        </p:txBody>
      </p:sp>
      <p:sp>
        <p:nvSpPr>
          <p:cNvPr id="45" name="SK-4-text-44"/>
          <p:cNvSpPr/>
          <p:nvPr/>
        </p:nvSpPr>
        <p:spPr>
          <a:xfrm>
            <a:off x="771525" y="914400"/>
            <a:ext cx="108489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kern="0" spc="60" dirty="0">
                <a:solidFill>
                  <a:srgbClr val="00B8D9"/>
                </a:solidFill>
              </a:rPr>
              <a:t>AI-ASSISTED KUSDC PAYGUARD PROJECT</a:t>
            </a:r>
            <a:endParaRPr lang="en-US" sz="1200" dirty="0"/>
          </a:p>
        </p:txBody>
      </p:sp>
      <p:sp>
        <p:nvSpPr>
          <p:cNvPr id="46" name="SK-4-text-45"/>
          <p:cNvSpPr/>
          <p:nvPr/>
        </p:nvSpPr>
        <p:spPr>
          <a:xfrm>
            <a:off x="2538413" y="1626394"/>
            <a:ext cx="3100388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4748B"/>
                </a:solidFill>
              </a:rPr>
              <a:t>기존 구현 내용 (Foundation)</a:t>
            </a:r>
            <a:endParaRPr lang="en-US" sz="1500" dirty="0"/>
          </a:p>
        </p:txBody>
      </p:sp>
      <p:sp>
        <p:nvSpPr>
          <p:cNvPr id="47" name="SK-4-text-46"/>
          <p:cNvSpPr/>
          <p:nvPr/>
        </p:nvSpPr>
        <p:spPr>
          <a:xfrm>
            <a:off x="8101013" y="1626394"/>
            <a:ext cx="3062288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이번 확장 (Value-Add)</a:t>
            </a:r>
            <a:endParaRPr lang="en-US" sz="1500" dirty="0"/>
          </a:p>
        </p:txBody>
      </p:sp>
      <p:sp>
        <p:nvSpPr>
          <p:cNvPr id="48" name="SK-4-text-47"/>
          <p:cNvSpPr/>
          <p:nvPr/>
        </p:nvSpPr>
        <p:spPr>
          <a:xfrm>
            <a:off x="1162050" y="2540794"/>
            <a:ext cx="375666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</a:rPr>
              <a:t>KUSDC ERC-20 토큰 배포</a:t>
            </a:r>
            <a:endParaRPr lang="en-US" sz="1275" dirty="0"/>
          </a:p>
        </p:txBody>
      </p:sp>
      <p:sp>
        <p:nvSpPr>
          <p:cNvPr id="49" name="SK-4-text-48"/>
          <p:cNvSpPr/>
          <p:nvPr/>
        </p:nvSpPr>
        <p:spPr>
          <a:xfrm>
            <a:off x="6686550" y="2540794"/>
            <a:ext cx="427482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E293B"/>
                </a:solidFill>
              </a:rPr>
              <a:t>Tx Hash 기반 결제 성공/실패 검증</a:t>
            </a:r>
            <a:endParaRPr lang="en-US" sz="1275" dirty="0"/>
          </a:p>
        </p:txBody>
      </p:sp>
      <p:sp>
        <p:nvSpPr>
          <p:cNvPr id="50" name="SK-4-text-49"/>
          <p:cNvSpPr/>
          <p:nvPr/>
        </p:nvSpPr>
        <p:spPr>
          <a:xfrm>
            <a:off x="9201150" y="2564606"/>
            <a:ext cx="247650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</a:rPr>
              <a:t>NEW</a:t>
            </a:r>
            <a:endParaRPr lang="en-US" sz="825" dirty="0"/>
          </a:p>
        </p:txBody>
      </p:sp>
      <p:sp>
        <p:nvSpPr>
          <p:cNvPr id="51" name="SK-4-text-50"/>
          <p:cNvSpPr/>
          <p:nvPr/>
        </p:nvSpPr>
        <p:spPr>
          <a:xfrm>
            <a:off x="1162050" y="3126581"/>
            <a:ext cx="369189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</a:rPr>
              <a:t>CafePayment 컨트랙트 결제</a:t>
            </a:r>
            <a:endParaRPr lang="en-US" sz="1275" dirty="0"/>
          </a:p>
        </p:txBody>
      </p:sp>
      <p:sp>
        <p:nvSpPr>
          <p:cNvPr id="52" name="SK-4-text-51"/>
          <p:cNvSpPr/>
          <p:nvPr/>
        </p:nvSpPr>
        <p:spPr>
          <a:xfrm>
            <a:off x="6686550" y="3126581"/>
            <a:ext cx="310896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E293B"/>
                </a:solidFill>
              </a:rPr>
              <a:t>사용자용 블록체인 영수증 표시</a:t>
            </a:r>
            <a:endParaRPr lang="en-US" sz="1275" dirty="0"/>
          </a:p>
        </p:txBody>
      </p:sp>
      <p:sp>
        <p:nvSpPr>
          <p:cNvPr id="53" name="SK-4-text-52"/>
          <p:cNvSpPr/>
          <p:nvPr/>
        </p:nvSpPr>
        <p:spPr>
          <a:xfrm>
            <a:off x="8924925" y="3150394"/>
            <a:ext cx="247650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</a:rPr>
              <a:t>NEW</a:t>
            </a:r>
            <a:endParaRPr lang="en-US" sz="825" dirty="0"/>
          </a:p>
        </p:txBody>
      </p:sp>
      <p:sp>
        <p:nvSpPr>
          <p:cNvPr id="54" name="SK-4-text-53"/>
          <p:cNvSpPr/>
          <p:nvPr/>
        </p:nvSpPr>
        <p:spPr>
          <a:xfrm>
            <a:off x="1162050" y="3712369"/>
            <a:ext cx="330327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</a:rPr>
              <a:t>MetaMask 지갑 연결</a:t>
            </a:r>
            <a:endParaRPr lang="en-US" sz="1275" dirty="0"/>
          </a:p>
        </p:txBody>
      </p:sp>
      <p:sp>
        <p:nvSpPr>
          <p:cNvPr id="55" name="SK-4-text-54"/>
          <p:cNvSpPr/>
          <p:nvPr/>
        </p:nvSpPr>
        <p:spPr>
          <a:xfrm>
            <a:off x="6686550" y="3712369"/>
            <a:ext cx="408051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E293B"/>
                </a:solidFill>
              </a:rPr>
              <a:t>관리자 정산 화면 (매출/수수료/정산)</a:t>
            </a:r>
            <a:endParaRPr lang="en-US" sz="1275" dirty="0"/>
          </a:p>
        </p:txBody>
      </p:sp>
      <p:sp>
        <p:nvSpPr>
          <p:cNvPr id="56" name="SK-4-text-55"/>
          <p:cNvSpPr/>
          <p:nvPr/>
        </p:nvSpPr>
        <p:spPr>
          <a:xfrm>
            <a:off x="9296400" y="3736181"/>
            <a:ext cx="247650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</a:rPr>
              <a:t>NEW</a:t>
            </a:r>
            <a:endParaRPr lang="en-US" sz="825" dirty="0"/>
          </a:p>
        </p:txBody>
      </p:sp>
      <p:sp>
        <p:nvSpPr>
          <p:cNvPr id="57" name="SK-4-text-56"/>
          <p:cNvSpPr/>
          <p:nvPr/>
        </p:nvSpPr>
        <p:spPr>
          <a:xfrm>
            <a:off x="1162050" y="4298156"/>
            <a:ext cx="349758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</a:rPr>
              <a:t>ethers.js로 컨트랙트 호출</a:t>
            </a:r>
            <a:endParaRPr lang="en-US" sz="1275" dirty="0"/>
          </a:p>
        </p:txBody>
      </p:sp>
      <p:sp>
        <p:nvSpPr>
          <p:cNvPr id="58" name="SK-4-text-57"/>
          <p:cNvSpPr/>
          <p:nvPr/>
        </p:nvSpPr>
        <p:spPr>
          <a:xfrm>
            <a:off x="6686550" y="4298156"/>
            <a:ext cx="550545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E293B"/>
                </a:solidFill>
              </a:rPr>
              <a:t>whitelist / pause / blacklist 보안 상태 확인</a:t>
            </a:r>
            <a:endParaRPr lang="en-US" sz="1275" dirty="0"/>
          </a:p>
        </p:txBody>
      </p:sp>
      <p:sp>
        <p:nvSpPr>
          <p:cNvPr id="59" name="SK-4-text-58"/>
          <p:cNvSpPr/>
          <p:nvPr/>
        </p:nvSpPr>
        <p:spPr>
          <a:xfrm>
            <a:off x="9429750" y="4321969"/>
            <a:ext cx="247650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</a:rPr>
              <a:t>NEW</a:t>
            </a:r>
            <a:endParaRPr lang="en-US" sz="825" dirty="0"/>
          </a:p>
        </p:txBody>
      </p:sp>
      <p:sp>
        <p:nvSpPr>
          <p:cNvPr id="60" name="SK-4-text-59"/>
          <p:cNvSpPr/>
          <p:nvPr/>
        </p:nvSpPr>
        <p:spPr>
          <a:xfrm>
            <a:off x="1162050" y="4883944"/>
            <a:ext cx="291465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</a:rPr>
              <a:t>Nodit API 기초 조회</a:t>
            </a:r>
            <a:endParaRPr lang="en-US" sz="1275" dirty="0"/>
          </a:p>
        </p:txBody>
      </p:sp>
      <p:sp>
        <p:nvSpPr>
          <p:cNvPr id="61" name="SK-4-text-60"/>
          <p:cNvSpPr/>
          <p:nvPr/>
        </p:nvSpPr>
        <p:spPr>
          <a:xfrm>
            <a:off x="6686550" y="4883944"/>
            <a:ext cx="408051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E293B"/>
                </a:solidFill>
              </a:rPr>
              <a:t>AI Agent 결제·정산·리스크 요약</a:t>
            </a:r>
            <a:endParaRPr lang="en-US" sz="1275" dirty="0"/>
          </a:p>
        </p:txBody>
      </p:sp>
      <p:sp>
        <p:nvSpPr>
          <p:cNvPr id="62" name="SK-4-text-61"/>
          <p:cNvSpPr/>
          <p:nvPr/>
        </p:nvSpPr>
        <p:spPr>
          <a:xfrm>
            <a:off x="9029700" y="4907756"/>
            <a:ext cx="247650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</a:rPr>
              <a:t>NEW</a:t>
            </a:r>
            <a:endParaRPr lang="en-US" sz="825" dirty="0"/>
          </a:p>
        </p:txBody>
      </p:sp>
      <p:sp>
        <p:nvSpPr>
          <p:cNvPr id="63" name="SK-4-text-62"/>
          <p:cNvSpPr/>
          <p:nvPr/>
        </p:nvSpPr>
        <p:spPr>
          <a:xfrm>
            <a:off x="1266825" y="5903119"/>
            <a:ext cx="41605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실시간 온체인 데이터 검증 및 영수증 자동 표시</a:t>
            </a:r>
            <a:endParaRPr lang="en-US" sz="1050" dirty="0"/>
          </a:p>
        </p:txBody>
      </p:sp>
      <p:sp>
        <p:nvSpPr>
          <p:cNvPr id="64" name="SK-4-text-63"/>
          <p:cNvSpPr/>
          <p:nvPr/>
        </p:nvSpPr>
        <p:spPr>
          <a:xfrm>
            <a:off x="6886575" y="5903119"/>
            <a:ext cx="4960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2CC"/>
                </a:solidFill>
              </a:rPr>
              <a:t>AI Agent 기반 리스크 확인 및 정산 요약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57150" cy="304800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71625"/>
            <a:ext cx="3555950" cy="1485900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8901" y="1824186"/>
            <a:ext cx="381000" cy="30480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576" y="2295525"/>
            <a:ext cx="266700" cy="26670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1571625"/>
            <a:ext cx="3555950" cy="1485900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351" y="1824186"/>
            <a:ext cx="381000" cy="30480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1026" y="2295525"/>
            <a:ext cx="266700" cy="266700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401" y="1571625"/>
            <a:ext cx="3556099" cy="1485900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1950" y="1824186"/>
            <a:ext cx="381000" cy="30480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7625" y="2295525"/>
            <a:ext cx="266700" cy="26670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09925"/>
            <a:ext cx="3555950" cy="1485900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58901" y="3462486"/>
            <a:ext cx="381000" cy="304800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4576" y="3933825"/>
            <a:ext cx="266700" cy="266700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3209925"/>
            <a:ext cx="3555950" cy="1485900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5351" y="3462486"/>
            <a:ext cx="381000" cy="304800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10051" y="3933825"/>
            <a:ext cx="266700" cy="266700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401" y="3209925"/>
            <a:ext cx="3556099" cy="1485900"/>
          </a:xfrm>
          <a:prstGeom prst="rect">
            <a:avLst/>
          </a:prstGeom>
        </p:spPr>
      </p:pic>
      <p:pic>
        <p:nvPicPr>
          <p:cNvPr id="21" name="SK-5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51950" y="3462486"/>
            <a:ext cx="381000" cy="304800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61425" y="3933825"/>
            <a:ext cx="266700" cy="266700"/>
          </a:xfrm>
          <a:prstGeom prst="rect">
            <a:avLst/>
          </a:prstGeom>
        </p:spPr>
      </p:pic>
      <p:pic>
        <p:nvPicPr>
          <p:cNvPr id="23" name="SK-5-img-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48225"/>
            <a:ext cx="3555950" cy="1485900"/>
          </a:xfrm>
          <a:prstGeom prst="rect">
            <a:avLst/>
          </a:prstGeom>
        </p:spPr>
      </p:pic>
      <p:pic>
        <p:nvPicPr>
          <p:cNvPr id="24" name="SK-5-img-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58901" y="5100786"/>
            <a:ext cx="381000" cy="304800"/>
          </a:xfrm>
          <a:prstGeom prst="rect">
            <a:avLst/>
          </a:prstGeom>
        </p:spPr>
      </p:pic>
      <p:pic>
        <p:nvPicPr>
          <p:cNvPr id="25" name="SK-5-img-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58838" y="5572125"/>
            <a:ext cx="266700" cy="266700"/>
          </a:xfrm>
          <a:prstGeom prst="rect">
            <a:avLst/>
          </a:prstGeom>
        </p:spPr>
      </p:pic>
      <p:pic>
        <p:nvPicPr>
          <p:cNvPr id="26" name="SK-5-img-2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4848225"/>
            <a:ext cx="3555950" cy="1485900"/>
          </a:xfrm>
          <a:prstGeom prst="rect">
            <a:avLst/>
          </a:prstGeom>
        </p:spPr>
      </p:pic>
      <p:pic>
        <p:nvPicPr>
          <p:cNvPr id="27" name="SK-5-img-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05351" y="5100786"/>
            <a:ext cx="381000" cy="304800"/>
          </a:xfrm>
          <a:prstGeom prst="rect">
            <a:avLst/>
          </a:prstGeom>
        </p:spPr>
      </p:pic>
      <p:pic>
        <p:nvPicPr>
          <p:cNvPr id="28" name="SK-5-img-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14826" y="5572125"/>
            <a:ext cx="266700" cy="266700"/>
          </a:xfrm>
          <a:prstGeom prst="rect">
            <a:avLst/>
          </a:prstGeom>
        </p:spPr>
      </p:pic>
      <p:pic>
        <p:nvPicPr>
          <p:cNvPr id="29" name="SK-5-img-2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401" y="4848225"/>
            <a:ext cx="3556099" cy="1485900"/>
          </a:xfrm>
          <a:prstGeom prst="rect">
            <a:avLst/>
          </a:prstGeom>
        </p:spPr>
      </p:pic>
      <p:pic>
        <p:nvPicPr>
          <p:cNvPr id="30" name="SK-5-img-2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51950" y="5100786"/>
            <a:ext cx="381000" cy="304800"/>
          </a:xfrm>
          <a:prstGeom prst="rect">
            <a:avLst/>
          </a:prstGeom>
        </p:spPr>
      </p:pic>
      <p:pic>
        <p:nvPicPr>
          <p:cNvPr id="31" name="SK-5-img-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6650" y="5572125"/>
            <a:ext cx="266700" cy="266700"/>
          </a:xfrm>
          <a:prstGeom prst="rect">
            <a:avLst/>
          </a:prstGeom>
        </p:spPr>
      </p:pic>
      <p:sp>
        <p:nvSpPr>
          <p:cNvPr id="32" name="SK-5-text-31"/>
          <p:cNvSpPr/>
          <p:nvPr/>
        </p:nvSpPr>
        <p:spPr>
          <a:xfrm>
            <a:off x="771525" y="304800"/>
            <a:ext cx="76809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전체 서비스 흐름 (Flowchart)</a:t>
            </a:r>
            <a:endParaRPr lang="en-US" sz="2400" dirty="0"/>
          </a:p>
        </p:txBody>
      </p:sp>
      <p:sp>
        <p:nvSpPr>
          <p:cNvPr id="33" name="SK-5-text-32"/>
          <p:cNvSpPr/>
          <p:nvPr/>
        </p:nvSpPr>
        <p:spPr>
          <a:xfrm>
            <a:off x="971550" y="819150"/>
            <a:ext cx="10648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kern="0" spc="60" dirty="0">
                <a:solidFill>
                  <a:srgbClr val="00B8D9"/>
                </a:solidFill>
              </a:rPr>
              <a:t>AI-ASSISTED KUSDC PAYGUARD PROJECT</a:t>
            </a:r>
            <a:endParaRPr lang="en-US" sz="1200" dirty="0"/>
          </a:p>
        </p:txBody>
      </p:sp>
      <p:sp>
        <p:nvSpPr>
          <p:cNvPr id="34" name="SK-5-text-33"/>
          <p:cNvSpPr/>
          <p:nvPr/>
        </p:nvSpPr>
        <p:spPr>
          <a:xfrm>
            <a:off x="1844576" y="2295525"/>
            <a:ext cx="26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35" name="SK-5-text-34"/>
          <p:cNvSpPr/>
          <p:nvPr/>
        </p:nvSpPr>
        <p:spPr>
          <a:xfrm>
            <a:off x="2206526" y="2308920"/>
            <a:ext cx="6477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메뉴 선택</a:t>
            </a:r>
            <a:endParaRPr lang="en-US" sz="1350" dirty="0"/>
          </a:p>
        </p:txBody>
      </p:sp>
      <p:sp>
        <p:nvSpPr>
          <p:cNvPr id="36" name="SK-5-text-35"/>
          <p:cNvSpPr/>
          <p:nvPr/>
        </p:nvSpPr>
        <p:spPr>
          <a:xfrm>
            <a:off x="1511201" y="2705100"/>
            <a:ext cx="16764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사용자가 카페 메뉴 및 수량 선택</a:t>
            </a:r>
            <a:endParaRPr lang="en-US" sz="1050" dirty="0"/>
          </a:p>
        </p:txBody>
      </p:sp>
      <p:sp>
        <p:nvSpPr>
          <p:cNvPr id="37" name="SK-5-text-36"/>
          <p:cNvSpPr/>
          <p:nvPr/>
        </p:nvSpPr>
        <p:spPr>
          <a:xfrm>
            <a:off x="5591026" y="2295525"/>
            <a:ext cx="26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8" name="SK-5-text-37"/>
          <p:cNvSpPr/>
          <p:nvPr/>
        </p:nvSpPr>
        <p:spPr>
          <a:xfrm>
            <a:off x="5952976" y="2308920"/>
            <a:ext cx="6477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지갑 연결</a:t>
            </a:r>
            <a:endParaRPr lang="en-US" sz="1350" dirty="0"/>
          </a:p>
        </p:txBody>
      </p:sp>
      <p:sp>
        <p:nvSpPr>
          <p:cNvPr id="39" name="SK-5-text-38"/>
          <p:cNvSpPr/>
          <p:nvPr/>
        </p:nvSpPr>
        <p:spPr>
          <a:xfrm>
            <a:off x="5295751" y="2705100"/>
            <a:ext cx="1600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MetaMask 연동 및 서명 요청</a:t>
            </a:r>
            <a:endParaRPr lang="en-US" sz="1050" dirty="0"/>
          </a:p>
        </p:txBody>
      </p:sp>
      <p:sp>
        <p:nvSpPr>
          <p:cNvPr id="40" name="SK-5-text-39"/>
          <p:cNvSpPr/>
          <p:nvPr/>
        </p:nvSpPr>
        <p:spPr>
          <a:xfrm>
            <a:off x="9337625" y="2295525"/>
            <a:ext cx="26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41" name="SK-5-text-40"/>
          <p:cNvSpPr/>
          <p:nvPr/>
        </p:nvSpPr>
        <p:spPr>
          <a:xfrm>
            <a:off x="9699575" y="2308920"/>
            <a:ext cx="6477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잔액 확인</a:t>
            </a:r>
            <a:endParaRPr lang="en-US" sz="1350" dirty="0"/>
          </a:p>
        </p:txBody>
      </p:sp>
      <p:sp>
        <p:nvSpPr>
          <p:cNvPr id="42" name="SK-5-text-41"/>
          <p:cNvSpPr/>
          <p:nvPr/>
        </p:nvSpPr>
        <p:spPr>
          <a:xfrm>
            <a:off x="9104263" y="2705100"/>
            <a:ext cx="14763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KUSDC 보유량 실시간 조회</a:t>
            </a:r>
            <a:endParaRPr lang="en-US" sz="1050" dirty="0"/>
          </a:p>
        </p:txBody>
      </p:sp>
      <p:sp>
        <p:nvSpPr>
          <p:cNvPr id="43" name="SK-5-text-42"/>
          <p:cNvSpPr/>
          <p:nvPr/>
        </p:nvSpPr>
        <p:spPr>
          <a:xfrm>
            <a:off x="1844576" y="3933825"/>
            <a:ext cx="26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4" name="SK-5-text-43"/>
          <p:cNvSpPr/>
          <p:nvPr/>
        </p:nvSpPr>
        <p:spPr>
          <a:xfrm>
            <a:off x="2206526" y="3947220"/>
            <a:ext cx="6477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결제 실행</a:t>
            </a:r>
            <a:endParaRPr lang="en-US" sz="1350" dirty="0"/>
          </a:p>
        </p:txBody>
      </p:sp>
      <p:sp>
        <p:nvSpPr>
          <p:cNvPr id="45" name="SK-5-text-44"/>
          <p:cNvSpPr/>
          <p:nvPr/>
        </p:nvSpPr>
        <p:spPr>
          <a:xfrm>
            <a:off x="1625501" y="4343400"/>
            <a:ext cx="14478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approve/pay 함수 호출</a:t>
            </a:r>
            <a:endParaRPr lang="en-US" sz="1050" dirty="0"/>
          </a:p>
        </p:txBody>
      </p:sp>
      <p:sp>
        <p:nvSpPr>
          <p:cNvPr id="46" name="SK-5-text-45"/>
          <p:cNvSpPr/>
          <p:nvPr/>
        </p:nvSpPr>
        <p:spPr>
          <a:xfrm>
            <a:off x="5410051" y="3933825"/>
            <a:ext cx="26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47" name="SK-5-text-46"/>
          <p:cNvSpPr/>
          <p:nvPr/>
        </p:nvSpPr>
        <p:spPr>
          <a:xfrm>
            <a:off x="5772001" y="3947220"/>
            <a:ext cx="100965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Tx Hash 확인</a:t>
            </a:r>
            <a:endParaRPr lang="en-US" sz="1350" dirty="0"/>
          </a:p>
        </p:txBody>
      </p:sp>
      <p:sp>
        <p:nvSpPr>
          <p:cNvPr id="48" name="SK-5-text-47"/>
          <p:cNvSpPr/>
          <p:nvPr/>
        </p:nvSpPr>
        <p:spPr>
          <a:xfrm>
            <a:off x="5295751" y="4343400"/>
            <a:ext cx="1600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블록체인 트랜잭션 고유값 확인</a:t>
            </a:r>
            <a:endParaRPr lang="en-US" sz="1050" dirty="0"/>
          </a:p>
        </p:txBody>
      </p:sp>
      <p:sp>
        <p:nvSpPr>
          <p:cNvPr id="49" name="SK-5-text-48"/>
          <p:cNvSpPr/>
          <p:nvPr/>
        </p:nvSpPr>
        <p:spPr>
          <a:xfrm>
            <a:off x="9261425" y="3933825"/>
            <a:ext cx="26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50" name="SK-5-text-49"/>
          <p:cNvSpPr/>
          <p:nvPr/>
        </p:nvSpPr>
        <p:spPr>
          <a:xfrm>
            <a:off x="9623375" y="3947220"/>
            <a:ext cx="800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온체인 조회</a:t>
            </a:r>
            <a:endParaRPr lang="en-US" sz="1350" dirty="0"/>
          </a:p>
        </p:txBody>
      </p:sp>
      <p:sp>
        <p:nvSpPr>
          <p:cNvPr id="51" name="SK-5-text-50"/>
          <p:cNvSpPr/>
          <p:nvPr/>
        </p:nvSpPr>
        <p:spPr>
          <a:xfrm>
            <a:off x="8980438" y="4343400"/>
            <a:ext cx="17240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Nodit API를 통한 트랜잭션 검증</a:t>
            </a:r>
            <a:endParaRPr lang="en-US" sz="1050" dirty="0"/>
          </a:p>
        </p:txBody>
      </p:sp>
      <p:sp>
        <p:nvSpPr>
          <p:cNvPr id="52" name="SK-5-text-51"/>
          <p:cNvSpPr/>
          <p:nvPr/>
        </p:nvSpPr>
        <p:spPr>
          <a:xfrm>
            <a:off x="1658838" y="5572125"/>
            <a:ext cx="26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53" name="SK-5-text-52"/>
          <p:cNvSpPr/>
          <p:nvPr/>
        </p:nvSpPr>
        <p:spPr>
          <a:xfrm>
            <a:off x="2020788" y="5585520"/>
            <a:ext cx="1019175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성공/실패 판단</a:t>
            </a:r>
            <a:endParaRPr lang="en-US" sz="1350" dirty="0"/>
          </a:p>
        </p:txBody>
      </p:sp>
      <p:sp>
        <p:nvSpPr>
          <p:cNvPr id="54" name="SK-5-text-53"/>
          <p:cNvSpPr/>
          <p:nvPr/>
        </p:nvSpPr>
        <p:spPr>
          <a:xfrm>
            <a:off x="1587401" y="5981700"/>
            <a:ext cx="1524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결제 결과 영수증 데이터 표시</a:t>
            </a:r>
            <a:endParaRPr lang="en-US" sz="1050" dirty="0"/>
          </a:p>
        </p:txBody>
      </p:sp>
      <p:sp>
        <p:nvSpPr>
          <p:cNvPr id="55" name="SK-5-text-54"/>
          <p:cNvSpPr/>
          <p:nvPr/>
        </p:nvSpPr>
        <p:spPr>
          <a:xfrm>
            <a:off x="5514826" y="5572125"/>
            <a:ext cx="26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8</a:t>
            </a:r>
            <a:endParaRPr lang="en-US" sz="1050" dirty="0"/>
          </a:p>
        </p:txBody>
      </p:sp>
      <p:sp>
        <p:nvSpPr>
          <p:cNvPr id="56" name="SK-5-text-55"/>
          <p:cNvSpPr/>
          <p:nvPr/>
        </p:nvSpPr>
        <p:spPr>
          <a:xfrm>
            <a:off x="5876776" y="5585520"/>
            <a:ext cx="800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관리자 정산</a:t>
            </a:r>
            <a:endParaRPr lang="en-US" sz="1350" dirty="0"/>
          </a:p>
        </p:txBody>
      </p:sp>
      <p:sp>
        <p:nvSpPr>
          <p:cNvPr id="57" name="SK-5-text-56"/>
          <p:cNvSpPr/>
          <p:nvPr/>
        </p:nvSpPr>
        <p:spPr>
          <a:xfrm>
            <a:off x="5219551" y="5981700"/>
            <a:ext cx="17526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매출, 수수료, 정산 금액 자동 합산</a:t>
            </a:r>
            <a:endParaRPr lang="en-US" sz="1050" dirty="0"/>
          </a:p>
        </p:txBody>
      </p:sp>
      <p:sp>
        <p:nvSpPr>
          <p:cNvPr id="58" name="SK-5-text-57"/>
          <p:cNvSpPr/>
          <p:nvPr/>
        </p:nvSpPr>
        <p:spPr>
          <a:xfrm>
            <a:off x="9156650" y="5572125"/>
            <a:ext cx="26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9</a:t>
            </a:r>
            <a:endParaRPr lang="en-US" sz="1050" dirty="0"/>
          </a:p>
        </p:txBody>
      </p:sp>
      <p:sp>
        <p:nvSpPr>
          <p:cNvPr id="59" name="SK-5-text-58"/>
          <p:cNvSpPr/>
          <p:nvPr/>
        </p:nvSpPr>
        <p:spPr>
          <a:xfrm>
            <a:off x="9518600" y="5585520"/>
            <a:ext cx="100965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AI 요약 리포트</a:t>
            </a:r>
            <a:endParaRPr lang="en-US" sz="1350" dirty="0"/>
          </a:p>
        </p:txBody>
      </p:sp>
      <p:sp>
        <p:nvSpPr>
          <p:cNvPr id="60" name="SK-5-text-59"/>
          <p:cNvSpPr/>
          <p:nvPr/>
        </p:nvSpPr>
        <p:spPr>
          <a:xfrm>
            <a:off x="8994725" y="5981700"/>
            <a:ext cx="16954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LLM 기반 자연어 요약 문장 생성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57150" cy="304800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88319"/>
            <a:ext cx="11049000" cy="4329113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88319"/>
            <a:ext cx="11049000" cy="509587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88319"/>
            <a:ext cx="3682901" cy="509587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401" y="1788319"/>
            <a:ext cx="3682901" cy="509587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302" y="1788319"/>
            <a:ext cx="3683198" cy="509587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297906"/>
            <a:ext cx="3682901" cy="423863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628" y="2442716"/>
            <a:ext cx="178594" cy="148828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401" y="2297906"/>
            <a:ext cx="3682901" cy="423863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2297906"/>
            <a:ext cx="3683198" cy="423863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721769"/>
            <a:ext cx="11049000" cy="423863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721769"/>
            <a:ext cx="3682901" cy="423863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628" y="2866579"/>
            <a:ext cx="178594" cy="148828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54401" y="2721769"/>
            <a:ext cx="3682901" cy="423863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2721769"/>
            <a:ext cx="3683198" cy="423863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145631"/>
            <a:ext cx="3682901" cy="423863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628" y="3290441"/>
            <a:ext cx="178594" cy="148828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401" y="3145631"/>
            <a:ext cx="3682901" cy="423863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3145631"/>
            <a:ext cx="3683198" cy="423863"/>
          </a:xfrm>
          <a:prstGeom prst="rect">
            <a:avLst/>
          </a:prstGeom>
        </p:spPr>
      </p:pic>
      <p:pic>
        <p:nvPicPr>
          <p:cNvPr id="23" name="SK-6-img-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569494"/>
            <a:ext cx="11049000" cy="423863"/>
          </a:xfrm>
          <a:prstGeom prst="rect">
            <a:avLst/>
          </a:prstGeom>
        </p:spPr>
      </p:pic>
      <p:pic>
        <p:nvPicPr>
          <p:cNvPr id="24" name="SK-6-img-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569494"/>
            <a:ext cx="3682901" cy="423863"/>
          </a:xfrm>
          <a:prstGeom prst="rect">
            <a:avLst/>
          </a:prstGeom>
        </p:spPr>
      </p:pic>
      <p:pic>
        <p:nvPicPr>
          <p:cNvPr id="25" name="SK-6-img-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628" y="3714304"/>
            <a:ext cx="178594" cy="148828"/>
          </a:xfrm>
          <a:prstGeom prst="rect">
            <a:avLst/>
          </a:prstGeom>
        </p:spPr>
      </p:pic>
      <p:pic>
        <p:nvPicPr>
          <p:cNvPr id="26" name="SK-6-img-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54401" y="3569494"/>
            <a:ext cx="3682901" cy="423863"/>
          </a:xfrm>
          <a:prstGeom prst="rect">
            <a:avLst/>
          </a:prstGeom>
        </p:spPr>
      </p:pic>
      <p:pic>
        <p:nvPicPr>
          <p:cNvPr id="27" name="SK-6-img-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3569494"/>
            <a:ext cx="3683198" cy="423863"/>
          </a:xfrm>
          <a:prstGeom prst="rect">
            <a:avLst/>
          </a:prstGeom>
        </p:spPr>
      </p:pic>
      <p:pic>
        <p:nvPicPr>
          <p:cNvPr id="28" name="SK-6-img-2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993356"/>
            <a:ext cx="3682901" cy="423863"/>
          </a:xfrm>
          <a:prstGeom prst="rect">
            <a:avLst/>
          </a:prstGeom>
        </p:spPr>
      </p:pic>
      <p:pic>
        <p:nvPicPr>
          <p:cNvPr id="29" name="SK-6-img-2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4628" y="4138166"/>
            <a:ext cx="178594" cy="148828"/>
          </a:xfrm>
          <a:prstGeom prst="rect">
            <a:avLst/>
          </a:prstGeom>
        </p:spPr>
      </p:pic>
      <p:pic>
        <p:nvPicPr>
          <p:cNvPr id="30" name="SK-6-img-2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401" y="3993356"/>
            <a:ext cx="3682901" cy="423863"/>
          </a:xfrm>
          <a:prstGeom prst="rect">
            <a:avLst/>
          </a:prstGeom>
        </p:spPr>
      </p:pic>
      <p:pic>
        <p:nvPicPr>
          <p:cNvPr id="31" name="SK-6-img-3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3993356"/>
            <a:ext cx="3683198" cy="423863"/>
          </a:xfrm>
          <a:prstGeom prst="rect">
            <a:avLst/>
          </a:prstGeom>
        </p:spPr>
      </p:pic>
      <p:pic>
        <p:nvPicPr>
          <p:cNvPr id="32" name="SK-6-img-3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417219"/>
            <a:ext cx="11049000" cy="423863"/>
          </a:xfrm>
          <a:prstGeom prst="rect">
            <a:avLst/>
          </a:prstGeom>
        </p:spPr>
      </p:pic>
      <p:pic>
        <p:nvPicPr>
          <p:cNvPr id="33" name="SK-6-img-3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417219"/>
            <a:ext cx="3682901" cy="423863"/>
          </a:xfrm>
          <a:prstGeom prst="rect">
            <a:avLst/>
          </a:prstGeom>
        </p:spPr>
      </p:pic>
      <p:pic>
        <p:nvPicPr>
          <p:cNvPr id="34" name="SK-6-img-3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4628" y="4562029"/>
            <a:ext cx="178594" cy="148828"/>
          </a:xfrm>
          <a:prstGeom prst="rect">
            <a:avLst/>
          </a:prstGeom>
        </p:spPr>
      </p:pic>
      <p:pic>
        <p:nvPicPr>
          <p:cNvPr id="35" name="SK-6-img-3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54401" y="4417219"/>
            <a:ext cx="3682901" cy="423863"/>
          </a:xfrm>
          <a:prstGeom prst="rect">
            <a:avLst/>
          </a:prstGeom>
        </p:spPr>
      </p:pic>
      <p:pic>
        <p:nvPicPr>
          <p:cNvPr id="36" name="SK-6-img-3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4417219"/>
            <a:ext cx="3683198" cy="423863"/>
          </a:xfrm>
          <a:prstGeom prst="rect">
            <a:avLst/>
          </a:prstGeom>
        </p:spPr>
      </p:pic>
      <p:pic>
        <p:nvPicPr>
          <p:cNvPr id="37" name="SK-6-img-3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841081"/>
            <a:ext cx="3682901" cy="423863"/>
          </a:xfrm>
          <a:prstGeom prst="rect">
            <a:avLst/>
          </a:prstGeom>
        </p:spPr>
      </p:pic>
      <p:pic>
        <p:nvPicPr>
          <p:cNvPr id="38" name="SK-6-img-3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4628" y="4985891"/>
            <a:ext cx="178594" cy="148828"/>
          </a:xfrm>
          <a:prstGeom prst="rect">
            <a:avLst/>
          </a:prstGeom>
        </p:spPr>
      </p:pic>
      <p:pic>
        <p:nvPicPr>
          <p:cNvPr id="39" name="SK-6-img-3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401" y="4841081"/>
            <a:ext cx="3682901" cy="423863"/>
          </a:xfrm>
          <a:prstGeom prst="rect">
            <a:avLst/>
          </a:prstGeom>
        </p:spPr>
      </p:pic>
      <p:pic>
        <p:nvPicPr>
          <p:cNvPr id="40" name="SK-6-img-3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4841081"/>
            <a:ext cx="3683198" cy="423863"/>
          </a:xfrm>
          <a:prstGeom prst="rect">
            <a:avLst/>
          </a:prstGeom>
        </p:spPr>
      </p:pic>
      <p:pic>
        <p:nvPicPr>
          <p:cNvPr id="41" name="SK-6-img-4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264944"/>
            <a:ext cx="11049000" cy="423863"/>
          </a:xfrm>
          <a:prstGeom prst="rect">
            <a:avLst/>
          </a:prstGeom>
        </p:spPr>
      </p:pic>
      <p:pic>
        <p:nvPicPr>
          <p:cNvPr id="42" name="SK-6-img-4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264944"/>
            <a:ext cx="3682901" cy="423863"/>
          </a:xfrm>
          <a:prstGeom prst="rect">
            <a:avLst/>
          </a:prstGeom>
        </p:spPr>
      </p:pic>
      <p:pic>
        <p:nvPicPr>
          <p:cNvPr id="43" name="SK-6-img-4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4628" y="5409754"/>
            <a:ext cx="178594" cy="148828"/>
          </a:xfrm>
          <a:prstGeom prst="rect">
            <a:avLst/>
          </a:prstGeom>
        </p:spPr>
      </p:pic>
      <p:pic>
        <p:nvPicPr>
          <p:cNvPr id="44" name="SK-6-img-4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54401" y="5264944"/>
            <a:ext cx="3682901" cy="423863"/>
          </a:xfrm>
          <a:prstGeom prst="rect">
            <a:avLst/>
          </a:prstGeom>
        </p:spPr>
      </p:pic>
      <p:pic>
        <p:nvPicPr>
          <p:cNvPr id="45" name="SK-6-img-4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5264944"/>
            <a:ext cx="3683198" cy="423863"/>
          </a:xfrm>
          <a:prstGeom prst="rect">
            <a:avLst/>
          </a:prstGeom>
        </p:spPr>
      </p:pic>
      <p:pic>
        <p:nvPicPr>
          <p:cNvPr id="46" name="SK-6-img-4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4628" y="5835997"/>
            <a:ext cx="178594" cy="148828"/>
          </a:xfrm>
          <a:prstGeom prst="rect">
            <a:avLst/>
          </a:prstGeom>
        </p:spPr>
      </p:pic>
      <p:sp>
        <p:nvSpPr>
          <p:cNvPr id="47" name="SK-6-text-46"/>
          <p:cNvSpPr/>
          <p:nvPr/>
        </p:nvSpPr>
        <p:spPr>
          <a:xfrm>
            <a:off x="771525" y="304800"/>
            <a:ext cx="731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사용할 기술 / API / AI 도구</a:t>
            </a:r>
            <a:endParaRPr lang="en-US" sz="2400" dirty="0"/>
          </a:p>
        </p:txBody>
      </p:sp>
      <p:sp>
        <p:nvSpPr>
          <p:cNvPr id="48" name="SK-6-text-47"/>
          <p:cNvSpPr/>
          <p:nvPr/>
        </p:nvSpPr>
        <p:spPr>
          <a:xfrm>
            <a:off x="771525" y="819150"/>
            <a:ext cx="108489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kern="0" spc="60" dirty="0">
                <a:solidFill>
                  <a:srgbClr val="00B8D9"/>
                </a:solidFill>
              </a:rPr>
              <a:t>AI-ASSISTED KUSDC PAYGUARD PROJECT</a:t>
            </a:r>
            <a:endParaRPr lang="en-US" sz="1200" dirty="0"/>
          </a:p>
        </p:txBody>
      </p:sp>
      <p:sp>
        <p:nvSpPr>
          <p:cNvPr id="49" name="SK-6-text-48"/>
          <p:cNvSpPr/>
          <p:nvPr/>
        </p:nvSpPr>
        <p:spPr>
          <a:xfrm>
            <a:off x="809625" y="1788319"/>
            <a:ext cx="3206651" cy="509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</a:rPr>
              <a:t>구분</a:t>
            </a:r>
            <a:endParaRPr lang="en-US" sz="1275" dirty="0"/>
          </a:p>
        </p:txBody>
      </p:sp>
      <p:sp>
        <p:nvSpPr>
          <p:cNvPr id="50" name="SK-6-text-49"/>
          <p:cNvSpPr/>
          <p:nvPr/>
        </p:nvSpPr>
        <p:spPr>
          <a:xfrm>
            <a:off x="4492526" y="1788319"/>
            <a:ext cx="3206651" cy="509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</a:rPr>
              <a:t>도구 / API</a:t>
            </a:r>
            <a:endParaRPr lang="en-US" sz="1275" dirty="0"/>
          </a:p>
        </p:txBody>
      </p:sp>
      <p:sp>
        <p:nvSpPr>
          <p:cNvPr id="51" name="SK-6-text-50"/>
          <p:cNvSpPr/>
          <p:nvPr/>
        </p:nvSpPr>
        <p:spPr>
          <a:xfrm>
            <a:off x="8175427" y="1788319"/>
            <a:ext cx="3206948" cy="509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</a:rPr>
              <a:t>역할 및 상세 내용</a:t>
            </a:r>
            <a:endParaRPr lang="en-US" sz="1275" dirty="0"/>
          </a:p>
        </p:txBody>
      </p:sp>
      <p:sp>
        <p:nvSpPr>
          <p:cNvPr id="52" name="SK-6-text-51"/>
          <p:cNvSpPr/>
          <p:nvPr/>
        </p:nvSpPr>
        <p:spPr>
          <a:xfrm>
            <a:off x="1133475" y="2297906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2CC"/>
                </a:solidFill>
              </a:rPr>
              <a:t>스마트 컨트랙트</a:t>
            </a:r>
            <a:endParaRPr lang="en-US" sz="1125" dirty="0"/>
          </a:p>
        </p:txBody>
      </p:sp>
      <p:sp>
        <p:nvSpPr>
          <p:cNvPr id="53" name="SK-6-text-52"/>
          <p:cNvSpPr/>
          <p:nvPr/>
        </p:nvSpPr>
        <p:spPr>
          <a:xfrm>
            <a:off x="4492526" y="2297906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</a:rPr>
              <a:t>Solidity</a:t>
            </a:r>
            <a:endParaRPr lang="en-US" sz="1125" dirty="0"/>
          </a:p>
        </p:txBody>
      </p:sp>
      <p:sp>
        <p:nvSpPr>
          <p:cNvPr id="54" name="SK-6-text-53"/>
          <p:cNvSpPr/>
          <p:nvPr/>
        </p:nvSpPr>
        <p:spPr>
          <a:xfrm>
            <a:off x="8175427" y="2297906"/>
            <a:ext cx="4016573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</a:rPr>
              <a:t>KUSDC.sol, CafePayment.sol 토큰 발행 및 결제 로직</a:t>
            </a:r>
            <a:endParaRPr lang="en-US" sz="1125" dirty="0"/>
          </a:p>
        </p:txBody>
      </p:sp>
      <p:sp>
        <p:nvSpPr>
          <p:cNvPr id="55" name="SK-6-text-54"/>
          <p:cNvSpPr/>
          <p:nvPr/>
        </p:nvSpPr>
        <p:spPr>
          <a:xfrm>
            <a:off x="1133475" y="2721769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2CC"/>
                </a:solidFill>
              </a:rPr>
              <a:t>개발 환경</a:t>
            </a:r>
            <a:endParaRPr lang="en-US" sz="1125" dirty="0"/>
          </a:p>
        </p:txBody>
      </p:sp>
      <p:sp>
        <p:nvSpPr>
          <p:cNvPr id="56" name="SK-6-text-55"/>
          <p:cNvSpPr/>
          <p:nvPr/>
        </p:nvSpPr>
        <p:spPr>
          <a:xfrm>
            <a:off x="4492526" y="2721769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</a:rPr>
              <a:t>Hardhat</a:t>
            </a:r>
            <a:endParaRPr lang="en-US" sz="1125" dirty="0"/>
          </a:p>
        </p:txBody>
      </p:sp>
      <p:sp>
        <p:nvSpPr>
          <p:cNvPr id="57" name="SK-6-text-56"/>
          <p:cNvSpPr/>
          <p:nvPr/>
        </p:nvSpPr>
        <p:spPr>
          <a:xfrm>
            <a:off x="8175427" y="2721769"/>
            <a:ext cx="4016573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</a:rPr>
              <a:t>컨트랙트 컴파일, 배포 스크립트 작성 및 로컬 테스트</a:t>
            </a:r>
            <a:endParaRPr lang="en-US" sz="1125" dirty="0"/>
          </a:p>
        </p:txBody>
      </p:sp>
      <p:sp>
        <p:nvSpPr>
          <p:cNvPr id="58" name="SK-6-text-57"/>
          <p:cNvSpPr/>
          <p:nvPr/>
        </p:nvSpPr>
        <p:spPr>
          <a:xfrm>
            <a:off x="1133475" y="3145631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2CC"/>
                </a:solidFill>
              </a:rPr>
              <a:t>테스트넷</a:t>
            </a:r>
            <a:endParaRPr lang="en-US" sz="1125" dirty="0"/>
          </a:p>
        </p:txBody>
      </p:sp>
      <p:sp>
        <p:nvSpPr>
          <p:cNvPr id="59" name="SK-6-text-58"/>
          <p:cNvSpPr/>
          <p:nvPr/>
        </p:nvSpPr>
        <p:spPr>
          <a:xfrm>
            <a:off x="4492526" y="3145631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</a:rPr>
              <a:t>GIWA / Sepolia</a:t>
            </a:r>
            <a:endParaRPr lang="en-US" sz="1125" dirty="0"/>
          </a:p>
        </p:txBody>
      </p:sp>
      <p:sp>
        <p:nvSpPr>
          <p:cNvPr id="60" name="SK-6-text-59"/>
          <p:cNvSpPr/>
          <p:nvPr/>
        </p:nvSpPr>
        <p:spPr>
          <a:xfrm>
            <a:off x="8175427" y="3145631"/>
            <a:ext cx="4016573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</a:rPr>
              <a:t>실제 자산 소모 없이 시연 가능한 이더리움 테스트넷 환경</a:t>
            </a:r>
            <a:endParaRPr lang="en-US" sz="1125" dirty="0"/>
          </a:p>
        </p:txBody>
      </p:sp>
      <p:sp>
        <p:nvSpPr>
          <p:cNvPr id="61" name="SK-6-text-60"/>
          <p:cNvSpPr/>
          <p:nvPr/>
        </p:nvSpPr>
        <p:spPr>
          <a:xfrm>
            <a:off x="1133475" y="3569494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2CC"/>
                </a:solidFill>
              </a:rPr>
              <a:t>사용자 지갑</a:t>
            </a:r>
            <a:endParaRPr lang="en-US" sz="1125" dirty="0"/>
          </a:p>
        </p:txBody>
      </p:sp>
      <p:sp>
        <p:nvSpPr>
          <p:cNvPr id="62" name="SK-6-text-61"/>
          <p:cNvSpPr/>
          <p:nvPr/>
        </p:nvSpPr>
        <p:spPr>
          <a:xfrm>
            <a:off x="4492526" y="3569494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</a:rPr>
              <a:t>MetaMask</a:t>
            </a:r>
            <a:endParaRPr lang="en-US" sz="1125" dirty="0"/>
          </a:p>
        </p:txBody>
      </p:sp>
      <p:sp>
        <p:nvSpPr>
          <p:cNvPr id="63" name="SK-6-text-62"/>
          <p:cNvSpPr/>
          <p:nvPr/>
        </p:nvSpPr>
        <p:spPr>
          <a:xfrm>
            <a:off x="8175427" y="3569494"/>
            <a:ext cx="4016573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</a:rPr>
              <a:t>지갑 연결, 트랜잭션 서명 및 결제 승인</a:t>
            </a:r>
            <a:endParaRPr lang="en-US" sz="1125" dirty="0"/>
          </a:p>
        </p:txBody>
      </p:sp>
      <p:sp>
        <p:nvSpPr>
          <p:cNvPr id="64" name="SK-6-text-63"/>
          <p:cNvSpPr/>
          <p:nvPr/>
        </p:nvSpPr>
        <p:spPr>
          <a:xfrm>
            <a:off x="1133475" y="3993356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2CC"/>
                </a:solidFill>
              </a:rPr>
              <a:t>프론트 연결</a:t>
            </a:r>
            <a:endParaRPr lang="en-US" sz="1125" dirty="0"/>
          </a:p>
        </p:txBody>
      </p:sp>
      <p:sp>
        <p:nvSpPr>
          <p:cNvPr id="65" name="SK-6-text-64"/>
          <p:cNvSpPr/>
          <p:nvPr/>
        </p:nvSpPr>
        <p:spPr>
          <a:xfrm>
            <a:off x="4492526" y="3993356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</a:rPr>
              <a:t>ethers.js</a:t>
            </a:r>
            <a:endParaRPr lang="en-US" sz="1125" dirty="0"/>
          </a:p>
        </p:txBody>
      </p:sp>
      <p:sp>
        <p:nvSpPr>
          <p:cNvPr id="66" name="SK-6-text-65"/>
          <p:cNvSpPr/>
          <p:nvPr/>
        </p:nvSpPr>
        <p:spPr>
          <a:xfrm>
            <a:off x="8175427" y="3993356"/>
            <a:ext cx="4016573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</a:rPr>
              <a:t>Provider 설정 및 스마트 컨트랙트 함수 호출 인터페이스</a:t>
            </a:r>
            <a:endParaRPr lang="en-US" sz="1125" dirty="0"/>
          </a:p>
        </p:txBody>
      </p:sp>
      <p:sp>
        <p:nvSpPr>
          <p:cNvPr id="67" name="SK-6-text-66"/>
          <p:cNvSpPr/>
          <p:nvPr/>
        </p:nvSpPr>
        <p:spPr>
          <a:xfrm>
            <a:off x="1133475" y="4417219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2CC"/>
                </a:solidFill>
              </a:rPr>
              <a:t>프론트엔드</a:t>
            </a:r>
            <a:endParaRPr lang="en-US" sz="1125" dirty="0"/>
          </a:p>
        </p:txBody>
      </p:sp>
      <p:sp>
        <p:nvSpPr>
          <p:cNvPr id="68" name="SK-6-text-67"/>
          <p:cNvSpPr/>
          <p:nvPr/>
        </p:nvSpPr>
        <p:spPr>
          <a:xfrm>
            <a:off x="4492526" y="4417219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</a:rPr>
              <a:t>React 또는 HTML/JavaScript</a:t>
            </a:r>
            <a:endParaRPr lang="en-US" sz="1125" dirty="0"/>
          </a:p>
        </p:txBody>
      </p:sp>
      <p:sp>
        <p:nvSpPr>
          <p:cNvPr id="69" name="SK-6-text-68"/>
          <p:cNvSpPr/>
          <p:nvPr/>
        </p:nvSpPr>
        <p:spPr>
          <a:xfrm>
            <a:off x="8175427" y="4417219"/>
            <a:ext cx="4016573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</a:rPr>
              <a:t>사용자용 결제 UI 및 관리자용 정산 대시보드 화면</a:t>
            </a:r>
            <a:endParaRPr lang="en-US" sz="1125" dirty="0"/>
          </a:p>
        </p:txBody>
      </p:sp>
      <p:sp>
        <p:nvSpPr>
          <p:cNvPr id="70" name="SK-6-text-69"/>
          <p:cNvSpPr/>
          <p:nvPr/>
        </p:nvSpPr>
        <p:spPr>
          <a:xfrm>
            <a:off x="1133475" y="4841081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2CC"/>
                </a:solidFill>
              </a:rPr>
              <a:t>온체인 조회</a:t>
            </a:r>
            <a:endParaRPr lang="en-US" sz="1125" dirty="0"/>
          </a:p>
        </p:txBody>
      </p:sp>
      <p:sp>
        <p:nvSpPr>
          <p:cNvPr id="71" name="SK-6-text-70"/>
          <p:cNvSpPr/>
          <p:nvPr/>
        </p:nvSpPr>
        <p:spPr>
          <a:xfrm>
            <a:off x="4492526" y="4841081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</a:rPr>
              <a:t>Nodit API</a:t>
            </a:r>
            <a:endParaRPr lang="en-US" sz="1125" dirty="0"/>
          </a:p>
        </p:txBody>
      </p:sp>
      <p:sp>
        <p:nvSpPr>
          <p:cNvPr id="72" name="SK-6-text-71"/>
          <p:cNvSpPr/>
          <p:nvPr/>
        </p:nvSpPr>
        <p:spPr>
          <a:xfrm>
            <a:off x="8175427" y="4841081"/>
            <a:ext cx="4016573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</a:rPr>
              <a:t>Tx Hash 실시간 상태 확인, 잔액 및 트랜잭션 기록 조회</a:t>
            </a:r>
            <a:endParaRPr lang="en-US" sz="1125" dirty="0"/>
          </a:p>
        </p:txBody>
      </p:sp>
      <p:sp>
        <p:nvSpPr>
          <p:cNvPr id="73" name="SK-6-text-72"/>
          <p:cNvSpPr/>
          <p:nvPr/>
        </p:nvSpPr>
        <p:spPr>
          <a:xfrm>
            <a:off x="1133475" y="5264944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2CC"/>
                </a:solidFill>
              </a:rPr>
              <a:t>AI 요약</a:t>
            </a:r>
            <a:endParaRPr lang="en-US" sz="1125" dirty="0"/>
          </a:p>
        </p:txBody>
      </p:sp>
      <p:sp>
        <p:nvSpPr>
          <p:cNvPr id="74" name="SK-6-text-73"/>
          <p:cNvSpPr/>
          <p:nvPr/>
        </p:nvSpPr>
        <p:spPr>
          <a:xfrm>
            <a:off x="4492526" y="5264944"/>
            <a:ext cx="3206651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</a:rPr>
              <a:t>LLM 기반 요약 기능
(MCP Agent 확장 가능)</a:t>
            </a:r>
            <a:endParaRPr lang="en-US" sz="1125" dirty="0"/>
          </a:p>
        </p:txBody>
      </p:sp>
      <p:sp>
        <p:nvSpPr>
          <p:cNvPr id="75" name="SK-6-text-74"/>
          <p:cNvSpPr/>
          <p:nvPr/>
        </p:nvSpPr>
        <p:spPr>
          <a:xfrm>
            <a:off x="8175427" y="5264944"/>
            <a:ext cx="4016573" cy="423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</a:rPr>
              <a:t>결제 결과와 리스크를 자연어 요약 리포트로 변환</a:t>
            </a:r>
            <a:endParaRPr lang="en-US" sz="1125" dirty="0"/>
          </a:p>
        </p:txBody>
      </p:sp>
      <p:sp>
        <p:nvSpPr>
          <p:cNvPr id="76" name="SK-6-text-75"/>
          <p:cNvSpPr/>
          <p:nvPr/>
        </p:nvSpPr>
        <p:spPr>
          <a:xfrm>
            <a:off x="1133475" y="5688806"/>
            <a:ext cx="320665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2CC"/>
                </a:solidFill>
              </a:rPr>
              <a:t>가격 정보</a:t>
            </a:r>
            <a:endParaRPr lang="en-US" sz="1125" dirty="0"/>
          </a:p>
        </p:txBody>
      </p:sp>
      <p:sp>
        <p:nvSpPr>
          <p:cNvPr id="77" name="SK-6-text-76"/>
          <p:cNvSpPr/>
          <p:nvPr/>
        </p:nvSpPr>
        <p:spPr>
          <a:xfrm>
            <a:off x="4492526" y="5688806"/>
            <a:ext cx="320665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E293B"/>
                </a:solidFill>
              </a:rPr>
              <a:t>CoinGecko API (선택)</a:t>
            </a:r>
            <a:endParaRPr lang="en-US" sz="1125" dirty="0"/>
          </a:p>
        </p:txBody>
      </p:sp>
      <p:sp>
        <p:nvSpPr>
          <p:cNvPr id="78" name="SK-6-text-77"/>
          <p:cNvSpPr/>
          <p:nvPr/>
        </p:nvSpPr>
        <p:spPr>
          <a:xfrm>
            <a:off x="8175427" y="5688806"/>
            <a:ext cx="3582742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64748B"/>
                </a:solidFill>
              </a:rPr>
              <a:t>스테이블코인 가격 참고 및 가치 환산 보조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"/>
            <a:ext cx="57150" cy="304800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66912"/>
            <a:ext cx="3555950" cy="1228725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200275"/>
            <a:ext cx="581025" cy="247650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425" y="2252960"/>
            <a:ext cx="214313" cy="175320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1966912"/>
            <a:ext cx="3555950" cy="1228725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6550" y="2200275"/>
            <a:ext cx="600075" cy="247650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0925" y="2252960"/>
            <a:ext cx="214313" cy="175320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401" y="1966912"/>
            <a:ext cx="3556099" cy="1228725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3001" y="2200275"/>
            <a:ext cx="590550" cy="247650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7851" y="2252960"/>
            <a:ext cx="214313" cy="175320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6138"/>
            <a:ext cx="3555950" cy="1228725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619500"/>
            <a:ext cx="600075" cy="247650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14475" y="3672185"/>
            <a:ext cx="214313" cy="175320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3386138"/>
            <a:ext cx="3555950" cy="1228725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6550" y="3619500"/>
            <a:ext cx="590550" cy="247650"/>
          </a:xfrm>
          <a:prstGeom prst="rect">
            <a:avLst/>
          </a:prstGeom>
        </p:spPr>
      </p:pic>
      <p:pic>
        <p:nvPicPr>
          <p:cNvPr id="19" name="SK-7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51400" y="3672185"/>
            <a:ext cx="214313" cy="175320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401" y="3386138"/>
            <a:ext cx="3556099" cy="1228725"/>
          </a:xfrm>
          <a:prstGeom prst="rect">
            <a:avLst/>
          </a:prstGeom>
        </p:spPr>
      </p:pic>
      <p:pic>
        <p:nvPicPr>
          <p:cNvPr id="21" name="SK-7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93001" y="3619500"/>
            <a:ext cx="600075" cy="247650"/>
          </a:xfrm>
          <a:prstGeom prst="rect">
            <a:avLst/>
          </a:prstGeom>
        </p:spPr>
      </p:pic>
      <p:pic>
        <p:nvPicPr>
          <p:cNvPr id="22" name="SK-7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07376" y="3672185"/>
            <a:ext cx="214313" cy="175320"/>
          </a:xfrm>
          <a:prstGeom prst="rect">
            <a:avLst/>
          </a:prstGeom>
        </p:spPr>
      </p:pic>
      <p:pic>
        <p:nvPicPr>
          <p:cNvPr id="23" name="SK-7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805363"/>
            <a:ext cx="3555950" cy="1228725"/>
          </a:xfrm>
          <a:prstGeom prst="rect">
            <a:avLst/>
          </a:prstGeom>
        </p:spPr>
      </p:pic>
      <p:pic>
        <p:nvPicPr>
          <p:cNvPr id="24" name="SK-7-img-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5038725"/>
            <a:ext cx="600075" cy="247650"/>
          </a:xfrm>
          <a:prstGeom prst="rect">
            <a:avLst/>
          </a:prstGeom>
        </p:spPr>
      </p:pic>
      <p:pic>
        <p:nvPicPr>
          <p:cNvPr id="25" name="SK-7-img-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14475" y="5091410"/>
            <a:ext cx="214313" cy="175320"/>
          </a:xfrm>
          <a:prstGeom prst="rect">
            <a:avLst/>
          </a:prstGeom>
        </p:spPr>
      </p:pic>
      <p:pic>
        <p:nvPicPr>
          <p:cNvPr id="26" name="SK-7-img-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17950" y="4805363"/>
            <a:ext cx="3555950" cy="1228725"/>
          </a:xfrm>
          <a:prstGeom prst="rect">
            <a:avLst/>
          </a:prstGeom>
        </p:spPr>
      </p:pic>
      <p:pic>
        <p:nvPicPr>
          <p:cNvPr id="27" name="SK-7-img-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6550" y="5038725"/>
            <a:ext cx="600075" cy="247650"/>
          </a:xfrm>
          <a:prstGeom prst="rect">
            <a:avLst/>
          </a:prstGeom>
        </p:spPr>
      </p:pic>
      <p:pic>
        <p:nvPicPr>
          <p:cNvPr id="28" name="SK-7-img-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60925" y="5091410"/>
            <a:ext cx="214313" cy="175320"/>
          </a:xfrm>
          <a:prstGeom prst="rect">
            <a:avLst/>
          </a:prstGeom>
        </p:spPr>
      </p:pic>
      <p:pic>
        <p:nvPicPr>
          <p:cNvPr id="29" name="SK-7-img-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64401" y="4805363"/>
            <a:ext cx="3556099" cy="1228725"/>
          </a:xfrm>
          <a:prstGeom prst="rect">
            <a:avLst/>
          </a:prstGeom>
        </p:spPr>
      </p:pic>
      <p:pic>
        <p:nvPicPr>
          <p:cNvPr id="30" name="SK-7-img-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93001" y="5038725"/>
            <a:ext cx="600075" cy="247650"/>
          </a:xfrm>
          <a:prstGeom prst="rect">
            <a:avLst/>
          </a:prstGeom>
        </p:spPr>
      </p:pic>
      <p:pic>
        <p:nvPicPr>
          <p:cNvPr id="31" name="SK-7-img-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07376" y="5091410"/>
            <a:ext cx="214313" cy="175320"/>
          </a:xfrm>
          <a:prstGeom prst="rect">
            <a:avLst/>
          </a:prstGeom>
        </p:spPr>
      </p:pic>
      <p:sp>
        <p:nvSpPr>
          <p:cNvPr id="32" name="SK-7-text-31"/>
          <p:cNvSpPr/>
          <p:nvPr/>
        </p:nvSpPr>
        <p:spPr>
          <a:xfrm>
            <a:off x="771525" y="381000"/>
            <a:ext cx="4267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구현 절차 (9단계)</a:t>
            </a:r>
            <a:endParaRPr lang="en-US" sz="2400" dirty="0"/>
          </a:p>
        </p:txBody>
      </p:sp>
      <p:sp>
        <p:nvSpPr>
          <p:cNvPr id="33" name="SK-7-text-32"/>
          <p:cNvSpPr/>
          <p:nvPr/>
        </p:nvSpPr>
        <p:spPr>
          <a:xfrm>
            <a:off x="971550" y="914400"/>
            <a:ext cx="10648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kern="0" spc="60" dirty="0">
                <a:solidFill>
                  <a:srgbClr val="00B8D9"/>
                </a:solidFill>
              </a:rPr>
              <a:t>AI-ASSISTED KUSDC PAYGUARD PROJECT DEVELOPMENT ROADMAP</a:t>
            </a:r>
            <a:endParaRPr lang="en-US" sz="1200" dirty="0"/>
          </a:p>
        </p:txBody>
      </p:sp>
      <p:sp>
        <p:nvSpPr>
          <p:cNvPr id="34" name="SK-7-text-33"/>
          <p:cNvSpPr/>
          <p:nvPr/>
        </p:nvSpPr>
        <p:spPr>
          <a:xfrm>
            <a:off x="895350" y="2200275"/>
            <a:ext cx="614597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35" name="SK-7-text-34"/>
          <p:cNvSpPr/>
          <p:nvPr/>
        </p:nvSpPr>
        <p:spPr>
          <a:xfrm>
            <a:off x="1824038" y="2195513"/>
            <a:ext cx="14401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컨트랙트 정리</a:t>
            </a:r>
            <a:endParaRPr lang="en-US" sz="1350" dirty="0"/>
          </a:p>
        </p:txBody>
      </p:sp>
      <p:sp>
        <p:nvSpPr>
          <p:cNvPr id="36" name="SK-7-text-35"/>
          <p:cNvSpPr/>
          <p:nvPr/>
        </p:nvSpPr>
        <p:spPr>
          <a:xfrm>
            <a:off x="800100" y="2566988"/>
            <a:ext cx="3098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기존 KUSDC 및 CafePayment 컨트랙트의 주소, ABI, 주요 함수를 정리합니다.</a:t>
            </a:r>
            <a:endParaRPr lang="en-US" sz="1050" dirty="0"/>
          </a:p>
        </p:txBody>
      </p:sp>
      <p:sp>
        <p:nvSpPr>
          <p:cNvPr id="37" name="SK-7-text-36"/>
          <p:cNvSpPr/>
          <p:nvPr/>
        </p:nvSpPr>
        <p:spPr>
          <a:xfrm>
            <a:off x="4641800" y="2200275"/>
            <a:ext cx="624114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38" name="SK-7-text-37"/>
          <p:cNvSpPr/>
          <p:nvPr/>
        </p:nvSpPr>
        <p:spPr>
          <a:xfrm>
            <a:off x="5589538" y="2195513"/>
            <a:ext cx="16459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배포 정보 확인</a:t>
            </a:r>
            <a:endParaRPr lang="en-US" sz="1350" dirty="0"/>
          </a:p>
        </p:txBody>
      </p:sp>
      <p:sp>
        <p:nvSpPr>
          <p:cNvPr id="39" name="SK-7-text-38"/>
          <p:cNvSpPr/>
          <p:nvPr/>
        </p:nvSpPr>
        <p:spPr>
          <a:xfrm>
            <a:off x="4546550" y="2566988"/>
            <a:ext cx="3098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ABI, 컨트랙트 배포 주소, 호출 함수 정보를 확인합니다.</a:t>
            </a:r>
            <a:endParaRPr lang="en-US" sz="1050" dirty="0"/>
          </a:p>
        </p:txBody>
      </p:sp>
      <p:sp>
        <p:nvSpPr>
          <p:cNvPr id="40" name="SK-7-text-39"/>
          <p:cNvSpPr/>
          <p:nvPr/>
        </p:nvSpPr>
        <p:spPr>
          <a:xfrm>
            <a:off x="8388251" y="2200275"/>
            <a:ext cx="619432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41" name="SK-7-text-40"/>
          <p:cNvSpPr/>
          <p:nvPr/>
        </p:nvSpPr>
        <p:spPr>
          <a:xfrm>
            <a:off x="9326463" y="2195513"/>
            <a:ext cx="185166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사용자 UI 제작</a:t>
            </a:r>
            <a:endParaRPr lang="en-US" sz="1350" dirty="0"/>
          </a:p>
        </p:txBody>
      </p:sp>
      <p:sp>
        <p:nvSpPr>
          <p:cNvPr id="42" name="SK-7-text-41"/>
          <p:cNvSpPr/>
          <p:nvPr/>
        </p:nvSpPr>
        <p:spPr>
          <a:xfrm>
            <a:off x="8293001" y="2566988"/>
            <a:ext cx="3098899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메뉴 선택부터 결제까지 이어지는 프론트엔드 사용자 인터페이스를 구축합니다.</a:t>
            </a:r>
            <a:endParaRPr lang="en-US" sz="1050" dirty="0"/>
          </a:p>
        </p:txBody>
      </p:sp>
      <p:sp>
        <p:nvSpPr>
          <p:cNvPr id="43" name="SK-7-text-42"/>
          <p:cNvSpPr/>
          <p:nvPr/>
        </p:nvSpPr>
        <p:spPr>
          <a:xfrm>
            <a:off x="895350" y="3619500"/>
            <a:ext cx="624114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44" name="SK-7-text-43"/>
          <p:cNvSpPr/>
          <p:nvPr/>
        </p:nvSpPr>
        <p:spPr>
          <a:xfrm>
            <a:off x="1843088" y="3614738"/>
            <a:ext cx="20574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지갑 및 잔액 연동</a:t>
            </a:r>
            <a:endParaRPr lang="en-US" sz="1350" dirty="0"/>
          </a:p>
        </p:txBody>
      </p:sp>
      <p:sp>
        <p:nvSpPr>
          <p:cNvPr id="45" name="SK-7-text-44"/>
          <p:cNvSpPr/>
          <p:nvPr/>
        </p:nvSpPr>
        <p:spPr>
          <a:xfrm>
            <a:off x="800100" y="3986213"/>
            <a:ext cx="3098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MetaMask 지갑 연결을 구현하고 KUSDC 잔액을 실시간으로 조회합니다.</a:t>
            </a:r>
            <a:endParaRPr lang="en-US" sz="1050" dirty="0"/>
          </a:p>
        </p:txBody>
      </p:sp>
      <p:sp>
        <p:nvSpPr>
          <p:cNvPr id="46" name="SK-7-text-45"/>
          <p:cNvSpPr/>
          <p:nvPr/>
        </p:nvSpPr>
        <p:spPr>
          <a:xfrm>
            <a:off x="4641800" y="3619500"/>
            <a:ext cx="619432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47" name="SK-7-text-46"/>
          <p:cNvSpPr/>
          <p:nvPr/>
        </p:nvSpPr>
        <p:spPr>
          <a:xfrm>
            <a:off x="5580013" y="3614738"/>
            <a:ext cx="20574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결제 실행 및 Tx Hash 확인</a:t>
            </a:r>
            <a:endParaRPr lang="en-US" sz="1350" dirty="0"/>
          </a:p>
        </p:txBody>
      </p:sp>
      <p:sp>
        <p:nvSpPr>
          <p:cNvPr id="48" name="SK-7-text-47"/>
          <p:cNvSpPr/>
          <p:nvPr/>
        </p:nvSpPr>
        <p:spPr>
          <a:xfrm>
            <a:off x="4546550" y="3986213"/>
            <a:ext cx="3098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approve/pay 트랜잭션을 실행하고 반환된 Tx Hash를 화면에 표시합니다.</a:t>
            </a:r>
            <a:endParaRPr lang="en-US" sz="1050" dirty="0"/>
          </a:p>
        </p:txBody>
      </p:sp>
      <p:sp>
        <p:nvSpPr>
          <p:cNvPr id="49" name="SK-7-text-48"/>
          <p:cNvSpPr/>
          <p:nvPr/>
        </p:nvSpPr>
        <p:spPr>
          <a:xfrm>
            <a:off x="8388251" y="3619500"/>
            <a:ext cx="624114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STEP 6</a:t>
            </a:r>
            <a:endParaRPr lang="en-US" sz="900" dirty="0"/>
          </a:p>
        </p:txBody>
      </p:sp>
      <p:sp>
        <p:nvSpPr>
          <p:cNvPr id="50" name="SK-7-text-49"/>
          <p:cNvSpPr/>
          <p:nvPr/>
        </p:nvSpPr>
        <p:spPr>
          <a:xfrm>
            <a:off x="9335988" y="3614738"/>
            <a:ext cx="24688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Nodit API 검증</a:t>
            </a:r>
            <a:endParaRPr lang="en-US" sz="1350" dirty="0"/>
          </a:p>
        </p:txBody>
      </p:sp>
      <p:sp>
        <p:nvSpPr>
          <p:cNvPr id="51" name="SK-7-text-50"/>
          <p:cNvSpPr/>
          <p:nvPr/>
        </p:nvSpPr>
        <p:spPr>
          <a:xfrm>
            <a:off x="8293001" y="3986213"/>
            <a:ext cx="3098899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Nodit API를 통해 온체인 트랜잭션의 실제 성공 여부와 세부 데이터를 검증합니다.</a:t>
            </a:r>
            <a:endParaRPr lang="en-US" sz="1050" dirty="0"/>
          </a:p>
        </p:txBody>
      </p:sp>
      <p:sp>
        <p:nvSpPr>
          <p:cNvPr id="52" name="SK-7-text-51"/>
          <p:cNvSpPr/>
          <p:nvPr/>
        </p:nvSpPr>
        <p:spPr>
          <a:xfrm>
            <a:off x="895350" y="5038725"/>
            <a:ext cx="624114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STEP 7</a:t>
            </a:r>
            <a:endParaRPr lang="en-US" sz="900" dirty="0"/>
          </a:p>
        </p:txBody>
      </p:sp>
      <p:sp>
        <p:nvSpPr>
          <p:cNvPr id="53" name="SK-7-text-52"/>
          <p:cNvSpPr/>
          <p:nvPr/>
        </p:nvSpPr>
        <p:spPr>
          <a:xfrm>
            <a:off x="1843088" y="5033963"/>
            <a:ext cx="185166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관리자 화면 구성</a:t>
            </a:r>
            <a:endParaRPr lang="en-US" sz="1350" dirty="0"/>
          </a:p>
        </p:txBody>
      </p:sp>
      <p:sp>
        <p:nvSpPr>
          <p:cNvPr id="54" name="SK-7-text-53"/>
          <p:cNvSpPr/>
          <p:nvPr/>
        </p:nvSpPr>
        <p:spPr>
          <a:xfrm>
            <a:off x="800100" y="5405438"/>
            <a:ext cx="3098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매출, 수수료, 정산 예정 금액을 자동으로 계산하여 보여주는 대시보드를 개발합니다.</a:t>
            </a:r>
            <a:endParaRPr lang="en-US" sz="1050" dirty="0"/>
          </a:p>
        </p:txBody>
      </p:sp>
      <p:sp>
        <p:nvSpPr>
          <p:cNvPr id="55" name="SK-7-text-54"/>
          <p:cNvSpPr/>
          <p:nvPr/>
        </p:nvSpPr>
        <p:spPr>
          <a:xfrm>
            <a:off x="4641800" y="5038725"/>
            <a:ext cx="624114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STEP 8</a:t>
            </a:r>
            <a:endParaRPr lang="en-US" sz="900" dirty="0"/>
          </a:p>
        </p:txBody>
      </p:sp>
      <p:sp>
        <p:nvSpPr>
          <p:cNvPr id="56" name="SK-7-text-55"/>
          <p:cNvSpPr/>
          <p:nvPr/>
        </p:nvSpPr>
        <p:spPr>
          <a:xfrm>
            <a:off x="5589538" y="5033963"/>
            <a:ext cx="16459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AI 요약 기능</a:t>
            </a:r>
            <a:endParaRPr lang="en-US" sz="1350" dirty="0"/>
          </a:p>
        </p:txBody>
      </p:sp>
      <p:sp>
        <p:nvSpPr>
          <p:cNvPr id="57" name="SK-7-text-56"/>
          <p:cNvSpPr/>
          <p:nvPr/>
        </p:nvSpPr>
        <p:spPr>
          <a:xfrm>
            <a:off x="4546550" y="5405438"/>
            <a:ext cx="3098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LLM을 이용해 결제 데이터와 정산 결과를 자연어 리포트로 변환합니다.</a:t>
            </a:r>
            <a:endParaRPr lang="en-US" sz="1050" dirty="0"/>
          </a:p>
        </p:txBody>
      </p:sp>
      <p:sp>
        <p:nvSpPr>
          <p:cNvPr id="58" name="SK-7-text-57"/>
          <p:cNvSpPr/>
          <p:nvPr/>
        </p:nvSpPr>
        <p:spPr>
          <a:xfrm>
            <a:off x="8388251" y="5038725"/>
            <a:ext cx="624114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STEP 9</a:t>
            </a:r>
            <a:endParaRPr lang="en-US" sz="900" dirty="0"/>
          </a:p>
        </p:txBody>
      </p:sp>
      <p:sp>
        <p:nvSpPr>
          <p:cNvPr id="59" name="SK-7-text-58"/>
          <p:cNvSpPr/>
          <p:nvPr/>
        </p:nvSpPr>
        <p:spPr>
          <a:xfrm>
            <a:off x="9335988" y="5033963"/>
            <a:ext cx="16459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데모 최종 정리</a:t>
            </a:r>
            <a:endParaRPr lang="en-US" sz="1350" dirty="0"/>
          </a:p>
        </p:txBody>
      </p:sp>
      <p:sp>
        <p:nvSpPr>
          <p:cNvPr id="60" name="SK-7-text-59"/>
          <p:cNvSpPr/>
          <p:nvPr/>
        </p:nvSpPr>
        <p:spPr>
          <a:xfrm>
            <a:off x="8293001" y="5405438"/>
            <a:ext cx="3098899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전체 프로세스를 점검하고 발표 시연용 데이터를 정리합니다.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57150" cy="304800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33500"/>
            <a:ext cx="5381625" cy="5238750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562100"/>
            <a:ext cx="4924425" cy="495300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562100"/>
            <a:ext cx="381000" cy="381000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538" y="1657350"/>
            <a:ext cx="238125" cy="190500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247900"/>
            <a:ext cx="4924425" cy="1143000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28938" y="2438400"/>
            <a:ext cx="666750" cy="762000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627090"/>
            <a:ext cx="166688" cy="137220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989040"/>
            <a:ext cx="166688" cy="137220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4350990"/>
            <a:ext cx="166688" cy="137220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712940"/>
            <a:ext cx="166688" cy="137220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5074890"/>
            <a:ext cx="166688" cy="137220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8875" y="1333500"/>
            <a:ext cx="5381625" cy="3208139"/>
          </a:xfrm>
          <a:prstGeom prst="rect">
            <a:avLst/>
          </a:prstGeom>
        </p:spPr>
      </p:pic>
      <p:pic>
        <p:nvPicPr>
          <p:cNvPr id="17" name="SK-8-img-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1562100"/>
            <a:ext cx="4924425" cy="495300"/>
          </a:xfrm>
          <a:prstGeom prst="rect">
            <a:avLst/>
          </a:prstGeom>
        </p:spPr>
      </p:pic>
      <p:pic>
        <p:nvPicPr>
          <p:cNvPr id="18" name="SK-8-img-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1562100"/>
            <a:ext cx="381000" cy="381000"/>
          </a:xfrm>
          <a:prstGeom prst="rect">
            <a:avLst/>
          </a:prstGeom>
        </p:spPr>
      </p:pic>
      <p:pic>
        <p:nvPicPr>
          <p:cNvPr id="19" name="SK-8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38913" y="1657350"/>
            <a:ext cx="238125" cy="190500"/>
          </a:xfrm>
          <a:prstGeom prst="rect">
            <a:avLst/>
          </a:prstGeom>
        </p:spPr>
      </p:pic>
      <p:pic>
        <p:nvPicPr>
          <p:cNvPr id="20" name="SK-8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67475" y="2293590"/>
            <a:ext cx="166688" cy="137220"/>
          </a:xfrm>
          <a:prstGeom prst="rect">
            <a:avLst/>
          </a:prstGeom>
        </p:spPr>
      </p:pic>
      <p:pic>
        <p:nvPicPr>
          <p:cNvPr id="21" name="SK-8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67475" y="2655540"/>
            <a:ext cx="166688" cy="137220"/>
          </a:xfrm>
          <a:prstGeom prst="rect">
            <a:avLst/>
          </a:prstGeom>
        </p:spPr>
      </p:pic>
      <p:pic>
        <p:nvPicPr>
          <p:cNvPr id="22" name="SK-8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67475" y="3017490"/>
            <a:ext cx="166688" cy="137220"/>
          </a:xfrm>
          <a:prstGeom prst="rect">
            <a:avLst/>
          </a:prstGeom>
        </p:spPr>
      </p:pic>
      <p:pic>
        <p:nvPicPr>
          <p:cNvPr id="23" name="SK-8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67475" y="3379440"/>
            <a:ext cx="166688" cy="137220"/>
          </a:xfrm>
          <a:prstGeom prst="rect">
            <a:avLst/>
          </a:prstGeom>
        </p:spPr>
      </p:pic>
      <p:pic>
        <p:nvPicPr>
          <p:cNvPr id="24" name="SK-8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67475" y="3741390"/>
            <a:ext cx="166688" cy="137220"/>
          </a:xfrm>
          <a:prstGeom prst="rect">
            <a:avLst/>
          </a:prstGeom>
        </p:spPr>
      </p:pic>
      <p:pic>
        <p:nvPicPr>
          <p:cNvPr id="25" name="SK-8-img-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38875" y="4732139"/>
            <a:ext cx="5381625" cy="1840111"/>
          </a:xfrm>
          <a:prstGeom prst="rect">
            <a:avLst/>
          </a:prstGeom>
        </p:spPr>
      </p:pic>
      <p:pic>
        <p:nvPicPr>
          <p:cNvPr id="26" name="SK-8-img-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67475" y="5271195"/>
            <a:ext cx="762000" cy="762000"/>
          </a:xfrm>
          <a:prstGeom prst="rect">
            <a:avLst/>
          </a:prstGeom>
        </p:spPr>
      </p:pic>
      <p:pic>
        <p:nvPicPr>
          <p:cNvPr id="27" name="SK-8-img-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67475" y="5271195"/>
            <a:ext cx="762000" cy="762000"/>
          </a:xfrm>
          <a:prstGeom prst="rect">
            <a:avLst/>
          </a:prstGeom>
        </p:spPr>
      </p:pic>
      <p:pic>
        <p:nvPicPr>
          <p:cNvPr id="28" name="SK-8-img-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58075" y="4960739"/>
            <a:ext cx="1143000" cy="209550"/>
          </a:xfrm>
          <a:prstGeom prst="rect">
            <a:avLst/>
          </a:prstGeom>
        </p:spPr>
      </p:pic>
      <p:sp>
        <p:nvSpPr>
          <p:cNvPr id="29" name="SK-8-text-28"/>
          <p:cNvSpPr/>
          <p:nvPr/>
        </p:nvSpPr>
        <p:spPr>
          <a:xfrm>
            <a:off x="771525" y="381000"/>
            <a:ext cx="21945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예상 결과물</a:t>
            </a:r>
            <a:endParaRPr lang="en-US" sz="2400" dirty="0"/>
          </a:p>
        </p:txBody>
      </p:sp>
      <p:sp>
        <p:nvSpPr>
          <p:cNvPr id="30" name="SK-8-text-29"/>
          <p:cNvSpPr/>
          <p:nvPr/>
        </p:nvSpPr>
        <p:spPr>
          <a:xfrm>
            <a:off x="771525" y="914400"/>
            <a:ext cx="108489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kern="0" spc="60" dirty="0">
                <a:solidFill>
                  <a:srgbClr val="00B8D9"/>
                </a:solidFill>
              </a:rPr>
              <a:t>AI-ASSISTED KUSDC PAYGUARD PROJECT</a:t>
            </a:r>
            <a:endParaRPr lang="en-US" sz="1200" dirty="0"/>
          </a:p>
        </p:txBody>
      </p:sp>
      <p:sp>
        <p:nvSpPr>
          <p:cNvPr id="31" name="SK-8-text-30"/>
          <p:cNvSpPr/>
          <p:nvPr/>
        </p:nvSpPr>
        <p:spPr>
          <a:xfrm>
            <a:off x="1295400" y="1609725"/>
            <a:ext cx="20574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사용자 결제 화면</a:t>
            </a:r>
            <a:endParaRPr lang="en-US" sz="1500" dirty="0"/>
          </a:p>
        </p:txBody>
      </p:sp>
      <p:sp>
        <p:nvSpPr>
          <p:cNvPr id="32" name="SK-8-text-31"/>
          <p:cNvSpPr/>
          <p:nvPr/>
        </p:nvSpPr>
        <p:spPr>
          <a:xfrm>
            <a:off x="1081088" y="358140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메뉴 선택 및 실시간 KUSDC 결제 연동</a:t>
            </a:r>
            <a:endParaRPr lang="en-US" sz="1200" dirty="0"/>
          </a:p>
        </p:txBody>
      </p:sp>
      <p:sp>
        <p:nvSpPr>
          <p:cNvPr id="33" name="SK-8-text-32"/>
          <p:cNvSpPr/>
          <p:nvPr/>
        </p:nvSpPr>
        <p:spPr>
          <a:xfrm>
            <a:off x="1081088" y="394335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MetaMask 지갑 연결 및 서명 프로세스</a:t>
            </a:r>
            <a:endParaRPr lang="en-US" sz="1200" dirty="0"/>
          </a:p>
        </p:txBody>
      </p:sp>
      <p:sp>
        <p:nvSpPr>
          <p:cNvPr id="34" name="SK-8-text-33"/>
          <p:cNvSpPr/>
          <p:nvPr/>
        </p:nvSpPr>
        <p:spPr>
          <a:xfrm>
            <a:off x="1081088" y="430530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Tx Hash 확인 및 블록체인 기록 검증</a:t>
            </a:r>
            <a:endParaRPr lang="en-US" sz="1200" dirty="0"/>
          </a:p>
        </p:txBody>
      </p:sp>
      <p:sp>
        <p:nvSpPr>
          <p:cNvPr id="35" name="SK-8-text-34"/>
          <p:cNvSpPr/>
          <p:nvPr/>
        </p:nvSpPr>
        <p:spPr>
          <a:xfrm>
            <a:off x="1081088" y="466725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결제 성공/실패 상태 시각화</a:t>
            </a:r>
            <a:endParaRPr lang="en-US" sz="1200" dirty="0"/>
          </a:p>
        </p:txBody>
      </p:sp>
      <p:sp>
        <p:nvSpPr>
          <p:cNvPr id="36" name="SK-8-text-35"/>
          <p:cNvSpPr/>
          <p:nvPr/>
        </p:nvSpPr>
        <p:spPr>
          <a:xfrm>
            <a:off x="1081088" y="502920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사용자 맞춤형 AI 결제 요약 리포트</a:t>
            </a:r>
            <a:endParaRPr lang="en-US" sz="1200" dirty="0"/>
          </a:p>
        </p:txBody>
      </p:sp>
      <p:sp>
        <p:nvSpPr>
          <p:cNvPr id="37" name="SK-8-text-36"/>
          <p:cNvSpPr/>
          <p:nvPr/>
        </p:nvSpPr>
        <p:spPr>
          <a:xfrm>
            <a:off x="6962775" y="1609725"/>
            <a:ext cx="25146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관리자 정산 대시보드</a:t>
            </a:r>
            <a:endParaRPr lang="en-US" sz="1500" dirty="0"/>
          </a:p>
        </p:txBody>
      </p:sp>
      <p:sp>
        <p:nvSpPr>
          <p:cNvPr id="38" name="SK-8-text-37"/>
          <p:cNvSpPr/>
          <p:nvPr/>
        </p:nvSpPr>
        <p:spPr>
          <a:xfrm>
            <a:off x="6748463" y="224790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오늘의 결제 건수 및 결제 현황</a:t>
            </a:r>
            <a:endParaRPr lang="en-US" sz="1200" dirty="0"/>
          </a:p>
        </p:txBody>
      </p:sp>
      <p:sp>
        <p:nvSpPr>
          <p:cNvPr id="39" name="SK-8-text-38"/>
          <p:cNvSpPr/>
          <p:nvPr/>
        </p:nvSpPr>
        <p:spPr>
          <a:xfrm>
            <a:off x="6748463" y="260985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총 매출액 및 서비스 수수료 자동 계산</a:t>
            </a:r>
            <a:endParaRPr lang="en-US" sz="1200" dirty="0"/>
          </a:p>
        </p:txBody>
      </p:sp>
      <p:sp>
        <p:nvSpPr>
          <p:cNvPr id="40" name="SK-8-text-39"/>
          <p:cNvSpPr/>
          <p:nvPr/>
        </p:nvSpPr>
        <p:spPr>
          <a:xfrm>
            <a:off x="6748463" y="297180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카페 정산 예정 금액 산출</a:t>
            </a:r>
            <a:endParaRPr lang="en-US" sz="1200" dirty="0"/>
          </a:p>
        </p:txBody>
      </p:sp>
      <p:sp>
        <p:nvSpPr>
          <p:cNvPr id="41" name="SK-8-text-40"/>
          <p:cNvSpPr/>
          <p:nvPr/>
        </p:nvSpPr>
        <p:spPr>
          <a:xfrm>
            <a:off x="6748463" y="333375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실패 거래 목록 및 원인 분석 데이터</a:t>
            </a:r>
            <a:endParaRPr lang="en-US" sz="1200" dirty="0"/>
          </a:p>
        </p:txBody>
      </p:sp>
      <p:sp>
        <p:nvSpPr>
          <p:cNvPr id="42" name="SK-8-text-41"/>
          <p:cNvSpPr/>
          <p:nvPr/>
        </p:nvSpPr>
        <p:spPr>
          <a:xfrm>
            <a:off x="6748463" y="3695700"/>
            <a:ext cx="4924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최근 트랜잭션 해시(Tx Hash) 상세 리스트</a:t>
            </a:r>
            <a:endParaRPr lang="en-US" sz="1200" dirty="0"/>
          </a:p>
        </p:txBody>
      </p:sp>
      <p:sp>
        <p:nvSpPr>
          <p:cNvPr id="43" name="SK-8-text-42"/>
          <p:cNvSpPr/>
          <p:nvPr/>
        </p:nvSpPr>
        <p:spPr>
          <a:xfrm>
            <a:off x="7534275" y="4960739"/>
            <a:ext cx="1664208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AI Agent 요약 예시</a:t>
            </a:r>
            <a:endParaRPr lang="en-US" sz="900" dirty="0"/>
          </a:p>
        </p:txBody>
      </p:sp>
      <p:sp>
        <p:nvSpPr>
          <p:cNvPr id="44" name="SK-8-text-43"/>
          <p:cNvSpPr/>
          <p:nvPr/>
        </p:nvSpPr>
        <p:spPr>
          <a:xfrm>
            <a:off x="7458075" y="5246489"/>
            <a:ext cx="3933825" cy="10971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"오늘 총 3건의 KUSDC 결제가 발생했고, 총 매출은 30 KUSDC입니다. 수수료 0.3 KUSDC를 제외한 29.7 KUSDC가 카페 정산 예정 금액입니다. 현재 실패 거래는 없습니다."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"/>
            <a:ext cx="57150" cy="304800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47800"/>
            <a:ext cx="342900" cy="342900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94" y="1531590"/>
            <a:ext cx="214313" cy="175320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028825"/>
            <a:ext cx="5334000" cy="997000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43882"/>
            <a:ext cx="209550" cy="209550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531" y="2280047"/>
            <a:ext cx="166688" cy="137220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601069"/>
            <a:ext cx="209550" cy="209550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531" y="2637234"/>
            <a:ext cx="166688" cy="137220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16325"/>
            <a:ext cx="5334000" cy="997000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431381"/>
            <a:ext cx="209550" cy="209550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531" y="3467546"/>
            <a:ext cx="166688" cy="137220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788569"/>
            <a:ext cx="209550" cy="209550"/>
          </a:xfrm>
          <a:prstGeom prst="rect">
            <a:avLst/>
          </a:prstGeom>
        </p:spPr>
      </p:pic>
      <p:pic>
        <p:nvPicPr>
          <p:cNvPr id="15" name="SK-9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531" y="3824734"/>
            <a:ext cx="166688" cy="137220"/>
          </a:xfrm>
          <a:prstGeom prst="rect">
            <a:avLst/>
          </a:prstGeom>
        </p:spPr>
      </p:pic>
      <p:pic>
        <p:nvPicPr>
          <p:cNvPr id="16" name="SK-9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403824"/>
            <a:ext cx="5334000" cy="997000"/>
          </a:xfrm>
          <a:prstGeom prst="rect">
            <a:avLst/>
          </a:prstGeom>
        </p:spPr>
      </p:pic>
      <p:pic>
        <p:nvPicPr>
          <p:cNvPr id="17" name="SK-9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4797475"/>
            <a:ext cx="209550" cy="209550"/>
          </a:xfrm>
          <a:prstGeom prst="rect">
            <a:avLst/>
          </a:prstGeom>
        </p:spPr>
      </p:pic>
      <p:pic>
        <p:nvPicPr>
          <p:cNvPr id="18" name="SK-9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1531" y="4833640"/>
            <a:ext cx="166688" cy="137220"/>
          </a:xfrm>
          <a:prstGeom prst="rect">
            <a:avLst/>
          </a:prstGeom>
        </p:spPr>
      </p:pic>
      <p:pic>
        <p:nvPicPr>
          <p:cNvPr id="19" name="SK-9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0" y="1447800"/>
            <a:ext cx="342900" cy="342900"/>
          </a:xfrm>
          <a:prstGeom prst="rect">
            <a:avLst/>
          </a:prstGeom>
        </p:spPr>
      </p:pic>
      <p:pic>
        <p:nvPicPr>
          <p:cNvPr id="20" name="SK-9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50794" y="1531590"/>
            <a:ext cx="214313" cy="175320"/>
          </a:xfrm>
          <a:prstGeom prst="rect">
            <a:avLst/>
          </a:prstGeom>
        </p:spPr>
      </p:pic>
      <p:pic>
        <p:nvPicPr>
          <p:cNvPr id="21" name="SK-9-img-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028825"/>
            <a:ext cx="5334000" cy="997000"/>
          </a:xfrm>
          <a:prstGeom prst="rect">
            <a:avLst/>
          </a:prstGeom>
        </p:spPr>
      </p:pic>
      <p:pic>
        <p:nvPicPr>
          <p:cNvPr id="22" name="SK-9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2243882"/>
            <a:ext cx="209550" cy="209550"/>
          </a:xfrm>
          <a:prstGeom prst="rect">
            <a:avLst/>
          </a:prstGeom>
        </p:spPr>
      </p:pic>
      <p:pic>
        <p:nvPicPr>
          <p:cNvPr id="23" name="SK-9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36531" y="2280047"/>
            <a:ext cx="166688" cy="137220"/>
          </a:xfrm>
          <a:prstGeom prst="rect">
            <a:avLst/>
          </a:prstGeom>
        </p:spPr>
      </p:pic>
      <p:pic>
        <p:nvPicPr>
          <p:cNvPr id="24" name="SK-9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5100" y="2601069"/>
            <a:ext cx="209550" cy="209550"/>
          </a:xfrm>
          <a:prstGeom prst="rect">
            <a:avLst/>
          </a:prstGeom>
        </p:spPr>
      </p:pic>
      <p:pic>
        <p:nvPicPr>
          <p:cNvPr id="25" name="SK-9-img-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36531" y="2637234"/>
            <a:ext cx="166688" cy="137220"/>
          </a:xfrm>
          <a:prstGeom prst="rect">
            <a:avLst/>
          </a:prstGeom>
        </p:spPr>
      </p:pic>
      <p:pic>
        <p:nvPicPr>
          <p:cNvPr id="26" name="SK-9-img-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3216325"/>
            <a:ext cx="5334000" cy="997000"/>
          </a:xfrm>
          <a:prstGeom prst="rect">
            <a:avLst/>
          </a:prstGeom>
        </p:spPr>
      </p:pic>
      <p:pic>
        <p:nvPicPr>
          <p:cNvPr id="27" name="SK-9-img-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3609975"/>
            <a:ext cx="209550" cy="209550"/>
          </a:xfrm>
          <a:prstGeom prst="rect">
            <a:avLst/>
          </a:prstGeom>
        </p:spPr>
      </p:pic>
      <p:pic>
        <p:nvPicPr>
          <p:cNvPr id="28" name="SK-9-img-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6531" y="3646140"/>
            <a:ext cx="166688" cy="137220"/>
          </a:xfrm>
          <a:prstGeom prst="rect">
            <a:avLst/>
          </a:prstGeom>
        </p:spPr>
      </p:pic>
      <p:pic>
        <p:nvPicPr>
          <p:cNvPr id="29" name="SK-9-img-2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0" y="4403824"/>
            <a:ext cx="5334000" cy="997000"/>
          </a:xfrm>
          <a:prstGeom prst="rect">
            <a:avLst/>
          </a:prstGeom>
        </p:spPr>
      </p:pic>
      <p:pic>
        <p:nvPicPr>
          <p:cNvPr id="30" name="SK-9-img-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15100" y="4797475"/>
            <a:ext cx="209550" cy="209550"/>
          </a:xfrm>
          <a:prstGeom prst="rect">
            <a:avLst/>
          </a:prstGeom>
        </p:spPr>
      </p:pic>
      <p:pic>
        <p:nvPicPr>
          <p:cNvPr id="31" name="SK-9-img-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36531" y="4833640"/>
            <a:ext cx="166688" cy="137220"/>
          </a:xfrm>
          <a:prstGeom prst="rect">
            <a:avLst/>
          </a:prstGeom>
        </p:spPr>
      </p:pic>
      <p:pic>
        <p:nvPicPr>
          <p:cNvPr id="32" name="SK-9-img-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5781675"/>
            <a:ext cx="11049000" cy="695325"/>
          </a:xfrm>
          <a:prstGeom prst="rect">
            <a:avLst/>
          </a:prstGeom>
        </p:spPr>
      </p:pic>
      <p:pic>
        <p:nvPicPr>
          <p:cNvPr id="33" name="SK-9-img-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38900" y="6053138"/>
            <a:ext cx="190500" cy="152400"/>
          </a:xfrm>
          <a:prstGeom prst="rect">
            <a:avLst/>
          </a:prstGeom>
        </p:spPr>
      </p:pic>
      <p:pic>
        <p:nvPicPr>
          <p:cNvPr id="34" name="SK-9-img-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58200" y="6053138"/>
            <a:ext cx="190500" cy="152400"/>
          </a:xfrm>
          <a:prstGeom prst="rect">
            <a:avLst/>
          </a:prstGeom>
        </p:spPr>
      </p:pic>
      <p:sp>
        <p:nvSpPr>
          <p:cNvPr id="35" name="SK-9-text-34"/>
          <p:cNvSpPr/>
          <p:nvPr/>
        </p:nvSpPr>
        <p:spPr>
          <a:xfrm>
            <a:off x="771525" y="381000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시연 계획</a:t>
            </a:r>
            <a:endParaRPr lang="en-US" sz="2400" dirty="0"/>
          </a:p>
        </p:txBody>
      </p:sp>
      <p:sp>
        <p:nvSpPr>
          <p:cNvPr id="36" name="SK-9-text-35"/>
          <p:cNvSpPr/>
          <p:nvPr/>
        </p:nvSpPr>
        <p:spPr>
          <a:xfrm>
            <a:off x="771525" y="838200"/>
            <a:ext cx="108489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kern="0" spc="60" dirty="0">
                <a:solidFill>
                  <a:srgbClr val="00B8D9"/>
                </a:solidFill>
              </a:rPr>
              <a:t>AI-ASSISTED KUSDC PAYGUARD PROJECT</a:t>
            </a:r>
            <a:endParaRPr lang="en-US" sz="1200" dirty="0"/>
          </a:p>
        </p:txBody>
      </p:sp>
      <p:sp>
        <p:nvSpPr>
          <p:cNvPr id="37" name="SK-9-text-36"/>
          <p:cNvSpPr/>
          <p:nvPr/>
        </p:nvSpPr>
        <p:spPr>
          <a:xfrm>
            <a:off x="1009650" y="1476375"/>
            <a:ext cx="45720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필수 시연 항목 (Core Flow)</a:t>
            </a:r>
            <a:endParaRPr lang="en-US" sz="1500" dirty="0"/>
          </a:p>
        </p:txBody>
      </p:sp>
      <p:sp>
        <p:nvSpPr>
          <p:cNvPr id="38" name="SK-9-text-37"/>
          <p:cNvSpPr/>
          <p:nvPr/>
        </p:nvSpPr>
        <p:spPr>
          <a:xfrm>
            <a:off x="1123950" y="2227213"/>
            <a:ext cx="621792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4155"/>
                </a:solidFill>
              </a:rPr>
              <a:t>MetaMask 지갑 연결 및 KUSDC 잔액 실시간 확인</a:t>
            </a:r>
            <a:endParaRPr lang="en-US" sz="1275" dirty="0"/>
          </a:p>
        </p:txBody>
      </p:sp>
      <p:sp>
        <p:nvSpPr>
          <p:cNvPr id="39" name="SK-9-text-38"/>
          <p:cNvSpPr/>
          <p:nvPr/>
        </p:nvSpPr>
        <p:spPr>
          <a:xfrm>
            <a:off x="1123950" y="2584400"/>
            <a:ext cx="524637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4155"/>
                </a:solidFill>
              </a:rPr>
              <a:t>카페 메뉴 선택 및 KUSDC 결제 트랜잭션 실행</a:t>
            </a:r>
            <a:endParaRPr lang="en-US" sz="1275" dirty="0"/>
          </a:p>
        </p:txBody>
      </p:sp>
      <p:sp>
        <p:nvSpPr>
          <p:cNvPr id="40" name="SK-9-text-39"/>
          <p:cNvSpPr/>
          <p:nvPr/>
        </p:nvSpPr>
        <p:spPr>
          <a:xfrm>
            <a:off x="1123950" y="3414713"/>
            <a:ext cx="524637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4155"/>
                </a:solidFill>
              </a:rPr>
              <a:t>결제 완료 후 확인된 Tx Hash 화면 출력</a:t>
            </a:r>
            <a:endParaRPr lang="en-US" sz="1275" dirty="0"/>
          </a:p>
        </p:txBody>
      </p:sp>
      <p:sp>
        <p:nvSpPr>
          <p:cNvPr id="41" name="SK-9-text-40"/>
          <p:cNvSpPr/>
          <p:nvPr/>
        </p:nvSpPr>
        <p:spPr>
          <a:xfrm>
            <a:off x="1123950" y="3771900"/>
            <a:ext cx="602361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4155"/>
                </a:solidFill>
              </a:rPr>
              <a:t>Nodit API 연동을 통한 온체인 트랜잭션 상태 조회</a:t>
            </a:r>
            <a:endParaRPr lang="en-US" sz="1275" dirty="0"/>
          </a:p>
        </p:txBody>
      </p:sp>
      <p:sp>
        <p:nvSpPr>
          <p:cNvPr id="42" name="SK-9-text-41"/>
          <p:cNvSpPr/>
          <p:nvPr/>
        </p:nvSpPr>
        <p:spPr>
          <a:xfrm>
            <a:off x="1123950" y="4780806"/>
            <a:ext cx="505206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4155"/>
                </a:solidFill>
              </a:rPr>
              <a:t>사용자 화면 내 결제 성공/실패 여부 최종 표시</a:t>
            </a:r>
            <a:endParaRPr lang="en-US" sz="1275" dirty="0"/>
          </a:p>
        </p:txBody>
      </p:sp>
      <p:sp>
        <p:nvSpPr>
          <p:cNvPr id="43" name="SK-9-text-42"/>
          <p:cNvSpPr/>
          <p:nvPr/>
        </p:nvSpPr>
        <p:spPr>
          <a:xfrm>
            <a:off x="6724650" y="1476375"/>
            <a:ext cx="45720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추가 시연 항목 (Value-Add)</a:t>
            </a:r>
            <a:endParaRPr lang="en-US" sz="1500" dirty="0"/>
          </a:p>
        </p:txBody>
      </p:sp>
      <p:sp>
        <p:nvSpPr>
          <p:cNvPr id="44" name="SK-9-text-43"/>
          <p:cNvSpPr/>
          <p:nvPr/>
        </p:nvSpPr>
        <p:spPr>
          <a:xfrm>
            <a:off x="6838950" y="2227213"/>
            <a:ext cx="535305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4155"/>
                </a:solidFill>
              </a:rPr>
              <a:t>관리자 전용 정산 대시보드 (매출/수수료 자동 계산)</a:t>
            </a:r>
            <a:endParaRPr lang="en-US" sz="1275" dirty="0"/>
          </a:p>
        </p:txBody>
      </p:sp>
      <p:sp>
        <p:nvSpPr>
          <p:cNvPr id="45" name="SK-9-text-44"/>
          <p:cNvSpPr/>
          <p:nvPr/>
        </p:nvSpPr>
        <p:spPr>
          <a:xfrm>
            <a:off x="6838950" y="2584400"/>
            <a:ext cx="535305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4155"/>
                </a:solidFill>
              </a:rPr>
              <a:t>실패 거래 목록 및 스마트 컨트랙트 보안 상태 확인</a:t>
            </a:r>
            <a:endParaRPr lang="en-US" sz="1275" dirty="0"/>
          </a:p>
        </p:txBody>
      </p:sp>
      <p:sp>
        <p:nvSpPr>
          <p:cNvPr id="46" name="SK-9-text-45"/>
          <p:cNvSpPr/>
          <p:nvPr/>
        </p:nvSpPr>
        <p:spPr>
          <a:xfrm>
            <a:off x="6838950" y="3593306"/>
            <a:ext cx="535305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4155"/>
                </a:solidFill>
              </a:rPr>
              <a:t>AI Agent 기반 결제·정산 리포트 자연어 요약 출력</a:t>
            </a:r>
            <a:endParaRPr lang="en-US" sz="1275" dirty="0"/>
          </a:p>
        </p:txBody>
      </p:sp>
      <p:sp>
        <p:nvSpPr>
          <p:cNvPr id="47" name="SK-9-text-46"/>
          <p:cNvSpPr/>
          <p:nvPr/>
        </p:nvSpPr>
        <p:spPr>
          <a:xfrm>
            <a:off x="6838950" y="4780806"/>
            <a:ext cx="535305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4155"/>
                </a:solidFill>
              </a:rPr>
              <a:t>GitHub 레포지토리 코드 구조 및 컨트랙트 배포 확인</a:t>
            </a:r>
            <a:endParaRPr lang="en-US" sz="1275" dirty="0"/>
          </a:p>
        </p:txBody>
      </p:sp>
      <p:sp>
        <p:nvSpPr>
          <p:cNvPr id="48" name="SK-9-text-47"/>
          <p:cNvSpPr/>
          <p:nvPr/>
        </p:nvSpPr>
        <p:spPr>
          <a:xfrm>
            <a:off x="857250" y="6029325"/>
            <a:ext cx="43205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60" dirty="0">
                <a:solidFill>
                  <a:srgbClr val="FFFFFF">
                    <a:alpha val="90000"/>
                  </a:srgbClr>
                </a:solidFill>
              </a:rPr>
              <a:t>시연 성공 기준 (SUCCESS CRITERIA)</a:t>
            </a:r>
            <a:endParaRPr lang="en-US" sz="1050" dirty="0"/>
          </a:p>
        </p:txBody>
      </p:sp>
      <p:sp>
        <p:nvSpPr>
          <p:cNvPr id="49" name="SK-9-text-48"/>
          <p:cNvSpPr/>
          <p:nvPr/>
        </p:nvSpPr>
        <p:spPr>
          <a:xfrm>
            <a:off x="5524500" y="5972175"/>
            <a:ext cx="12573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결제 실행</a:t>
            </a:r>
            <a:endParaRPr lang="en-US" sz="1650" dirty="0"/>
          </a:p>
        </p:txBody>
      </p:sp>
      <p:sp>
        <p:nvSpPr>
          <p:cNvPr id="50" name="SK-9-text-49"/>
          <p:cNvSpPr/>
          <p:nvPr/>
        </p:nvSpPr>
        <p:spPr>
          <a:xfrm>
            <a:off x="6772275" y="5972175"/>
            <a:ext cx="25146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블록체인 기록 검증</a:t>
            </a:r>
            <a:endParaRPr lang="en-US" sz="1650" dirty="0"/>
          </a:p>
        </p:txBody>
      </p:sp>
      <p:sp>
        <p:nvSpPr>
          <p:cNvPr id="51" name="SK-9-text-50"/>
          <p:cNvSpPr/>
          <p:nvPr/>
        </p:nvSpPr>
        <p:spPr>
          <a:xfrm>
            <a:off x="8791575" y="5972175"/>
            <a:ext cx="340042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사람이 이해하기 쉬운 결과 표시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935</Words>
  <Application>Microsoft Office PowerPoint</Application>
  <PresentationFormat>와이드스크린</PresentationFormat>
  <Paragraphs>182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KR</vt:lpstr>
      <vt:lpstr>Calibri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</cp:revision>
  <dcterms:created xsi:type="dcterms:W3CDTF">2026-05-19T04:48:43Z</dcterms:created>
  <dcterms:modified xsi:type="dcterms:W3CDTF">2026-05-19T04:59:04Z</dcterms:modified>
</cp:coreProperties>
</file>